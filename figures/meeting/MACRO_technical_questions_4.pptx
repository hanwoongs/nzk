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67" r:id="rId3"/>
    <p:sldId id="257" r:id="rId4"/>
    <p:sldId id="258" r:id="rId5"/>
    <p:sldId id="266" r:id="rId6"/>
    <p:sldId id="259" r:id="rId7"/>
    <p:sldId id="260" r:id="rId8"/>
    <p:sldId id="268" r:id="rId9"/>
    <p:sldId id="261"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746"/>
    <p:restoredTop sz="73773"/>
  </p:normalViewPr>
  <p:slideViewPr>
    <p:cSldViewPr snapToGrid="0" snapToObjects="1">
      <p:cViewPr>
        <p:scale>
          <a:sx n="96" d="100"/>
          <a:sy n="96" d="100"/>
        </p:scale>
        <p:origin x="1352" y="208"/>
      </p:cViewPr>
      <p:guideLst>
        <p:guide orient="horz" pos="2160"/>
        <p:guide pos="2880"/>
      </p:guideLst>
    </p:cSldViewPr>
  </p:slideViewPr>
  <p:notesTextViewPr>
    <p:cViewPr>
      <p:scale>
        <a:sx n="280" d="100"/>
        <a:sy n="28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A466E4-EB96-4C42-9D6C-1D0FD1044612}" type="datetimeFigureOut">
              <a:rPr lang="en-US" smtClean="0"/>
              <a:t>10/19/26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5DD29B-16C2-0541-863F-EF6211F8CD5A}" type="slidenum">
              <a:rPr lang="en-US" smtClean="0"/>
              <a:t>‹#›</a:t>
            </a:fld>
            <a:endParaRPr lang="en-US"/>
          </a:p>
        </p:txBody>
      </p:sp>
    </p:spTree>
    <p:extLst>
      <p:ext uri="{BB962C8B-B14F-4D97-AF65-F5344CB8AC3E}">
        <p14:creationId xmlns:p14="http://schemas.microsoft.com/office/powerpoint/2010/main" val="11596228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things. We'll start with where the base year stands, because there's a known gap and I want to flag it before you see any numbers. </a:t>
            </a:r>
          </a:p>
          <a:p>
            <a:endParaRPr lang="en-US" dirty="0"/>
          </a:p>
          <a:p>
            <a:r>
              <a:rPr lang="en-US" dirty="0"/>
              <a:t>Then capacity and generation for both scenarios.</a:t>
            </a:r>
          </a:p>
          <a:p>
            <a:endParaRPr lang="en-US" dirty="0"/>
          </a:p>
          <a:p>
            <a:r>
              <a:rPr lang="en-US" dirty="0"/>
              <a:t>Then three questions: the renewable build rate, the unit commitment parameters, and the carbon price.</a:t>
            </a:r>
          </a:p>
          <a:p>
            <a:endParaRPr lang="en-US" dirty="0"/>
          </a:p>
        </p:txBody>
      </p:sp>
      <p:sp>
        <p:nvSpPr>
          <p:cNvPr id="4" name="Slide Number Placeholder 3"/>
          <p:cNvSpPr>
            <a:spLocks noGrp="1"/>
          </p:cNvSpPr>
          <p:nvPr>
            <p:ph type="sldNum" sz="quarter" idx="5"/>
          </p:nvPr>
        </p:nvSpPr>
        <p:spPr/>
        <p:txBody>
          <a:bodyPr/>
          <a:lstStyle/>
          <a:p>
            <a:fld id="{1B5DD29B-16C2-0541-863F-EF6211F8CD5A}" type="slidenum">
              <a:rPr lang="en-US" smtClean="0"/>
              <a:t>2</a:t>
            </a:fld>
            <a:endParaRPr lang="en-US"/>
          </a:p>
        </p:txBody>
      </p:sp>
    </p:spTree>
    <p:extLst>
      <p:ext uri="{BB962C8B-B14F-4D97-AF65-F5344CB8AC3E}">
        <p14:creationId xmlns:p14="http://schemas.microsoft.com/office/powerpoint/2010/main" val="10533578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Structurally we're complete. Seven periods, 8,760 hours, linearly relaxed unit commitment, myopic, </a:t>
            </a:r>
            <a:r>
              <a:rPr lang="en-US" dirty="0" err="1"/>
              <a:t>Gurobi</a:t>
            </a:r>
            <a:r>
              <a:rPr lang="en-US" dirty="0"/>
              <a:t> barrier. </a:t>
            </a:r>
          </a:p>
          <a:p>
            <a:endParaRPr lang="en-US" dirty="0"/>
          </a:p>
          <a:p>
            <a:r>
              <a:rPr lang="en-US" dirty="0"/>
              <a:t>About 13.6 million rows. Ref solves in two and a half hours, NDC in four and a half, on 24 cores.</a:t>
            </a:r>
          </a:p>
          <a:p>
            <a:endParaRPr lang="en-US" dirty="0"/>
          </a:p>
          <a:p>
            <a:r>
              <a:rPr lang="en-US" dirty="0"/>
              <a:t>Transmission is in good shape. We built a 99 gigawatt inter-province network from NREL interface transfer limits, calibrated to the KPX metro import limit, and it now expands</a:t>
            </a:r>
            <a:r>
              <a:rPr lang="en-US" altLang="ko-KR" dirty="0"/>
              <a:t>.</a:t>
            </a:r>
          </a:p>
          <a:p>
            <a:endParaRPr lang="en-US" dirty="0"/>
          </a:p>
          <a:p>
            <a:r>
              <a:rPr lang="en-US" dirty="0"/>
              <a:t>The base year is not calibrated. We can check about this next slide.</a:t>
            </a:r>
          </a:p>
        </p:txBody>
      </p:sp>
      <p:sp>
        <p:nvSpPr>
          <p:cNvPr id="4" name="Slide Number Placeholder 3"/>
          <p:cNvSpPr>
            <a:spLocks noGrp="1"/>
          </p:cNvSpPr>
          <p:nvPr>
            <p:ph type="sldNum" sz="quarter" idx="5"/>
          </p:nvPr>
        </p:nvSpPr>
        <p:spPr/>
        <p:txBody>
          <a:bodyPr/>
          <a:lstStyle/>
          <a:p>
            <a:fld id="{1B5DD29B-16C2-0541-863F-EF6211F8CD5A}" type="slidenum">
              <a:rPr lang="en-US" smtClean="0"/>
              <a:t>3</a:t>
            </a:fld>
            <a:endParaRPr lang="en-US"/>
          </a:p>
        </p:txBody>
      </p:sp>
    </p:spTree>
    <p:extLst>
      <p:ext uri="{BB962C8B-B14F-4D97-AF65-F5344CB8AC3E}">
        <p14:creationId xmlns:p14="http://schemas.microsoft.com/office/powerpoint/2010/main" val="5478600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gap. Coal and gas are the wrong way round.</a:t>
            </a:r>
          </a:p>
          <a:p>
            <a:endParaRPr lang="en-US" dirty="0"/>
          </a:p>
          <a:p>
            <a:r>
              <a:rPr lang="en-US" dirty="0"/>
              <a:t>The reason is simple. Coal and gas have no availability limit in the model — so they can run every hour of the year. No maintenance, no outages, no seasonal shutdowns. Coal is half the price of gas to run, so it just runs flat out. 95% capacity factor, all year, every year.</a:t>
            </a:r>
          </a:p>
          <a:p>
            <a:endParaRPr lang="en-US" dirty="0"/>
          </a:p>
          <a:p>
            <a:r>
              <a:rPr lang="en-US" dirty="0"/>
              <a:t>Real Korean coal runs at about 63%.</a:t>
            </a:r>
          </a:p>
          <a:p>
            <a:endParaRPr lang="en-US" dirty="0"/>
          </a:p>
          <a:p>
            <a:r>
              <a:rPr lang="en-US" dirty="0"/>
              <a:t>So coal does gas's job, and gas sits idle.</a:t>
            </a:r>
          </a:p>
          <a:p>
            <a:endParaRPr lang="en-US" dirty="0"/>
          </a:p>
          <a:p>
            <a:r>
              <a:rPr lang="en-US" dirty="0"/>
              <a:t>We've already written the fix. Cap coal at 65%, bring nuclear down from 85 to 78 — that's the real 2021 number — and stop the model retiring gas plants in the calibration year itself. </a:t>
            </a:r>
          </a:p>
          <a:p>
            <a:endParaRPr lang="en-US" dirty="0"/>
          </a:p>
          <a:p>
            <a:r>
              <a:rPr lang="en-US" dirty="0"/>
              <a:t>It just hasn't run yet. So everything you see today still has this in it — I'm flagging it now so we don't spend the meeting re-diagnosing something we already know.</a:t>
            </a:r>
          </a:p>
        </p:txBody>
      </p:sp>
      <p:sp>
        <p:nvSpPr>
          <p:cNvPr id="4" name="Slide Number Placeholder 3"/>
          <p:cNvSpPr>
            <a:spLocks noGrp="1"/>
          </p:cNvSpPr>
          <p:nvPr>
            <p:ph type="sldNum" sz="quarter" idx="5"/>
          </p:nvPr>
        </p:nvSpPr>
        <p:spPr/>
        <p:txBody>
          <a:bodyPr/>
          <a:lstStyle/>
          <a:p>
            <a:fld id="{1B5DD29B-16C2-0541-863F-EF6211F8CD5A}" type="slidenum">
              <a:rPr lang="en-US" smtClean="0"/>
              <a:t>4</a:t>
            </a:fld>
            <a:endParaRPr lang="en-US"/>
          </a:p>
        </p:txBody>
      </p:sp>
    </p:spTree>
    <p:extLst>
      <p:ext uri="{BB962C8B-B14F-4D97-AF65-F5344CB8AC3E}">
        <p14:creationId xmlns:p14="http://schemas.microsoft.com/office/powerpoint/2010/main" val="19838776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picture for both scenarios, capacity on top and generation below.</a:t>
            </a:r>
          </a:p>
          <a:p>
            <a:endParaRPr lang="en-US" dirty="0"/>
          </a:p>
          <a:p>
            <a:r>
              <a:rPr lang="en-US" dirty="0"/>
              <a:t>Do you think this is feasible? I think in REF we still have lots of solar…. I think this is linked to CF and CPA.</a:t>
            </a:r>
          </a:p>
          <a:p>
            <a:endParaRPr lang="en-US" dirty="0"/>
          </a:p>
          <a:p>
            <a:r>
              <a:rPr lang="en-US" dirty="0"/>
              <a:t>Two things to notice. In NDC, battery capacity is enormous — 83 gigawatts. And the gap between installed capacity and generation widens a lot, which is the curtailment we'll come back to.</a:t>
            </a:r>
          </a:p>
        </p:txBody>
      </p:sp>
      <p:sp>
        <p:nvSpPr>
          <p:cNvPr id="4" name="Slide Number Placeholder 3"/>
          <p:cNvSpPr>
            <a:spLocks noGrp="1"/>
          </p:cNvSpPr>
          <p:nvPr>
            <p:ph type="sldNum" sz="quarter" idx="5"/>
          </p:nvPr>
        </p:nvSpPr>
        <p:spPr/>
        <p:txBody>
          <a:bodyPr/>
          <a:lstStyle/>
          <a:p>
            <a:fld id="{1B5DD29B-16C2-0541-863F-EF6211F8CD5A}" type="slidenum">
              <a:rPr lang="en-US" smtClean="0"/>
              <a:t>5</a:t>
            </a:fld>
            <a:endParaRPr lang="en-US"/>
          </a:p>
        </p:txBody>
      </p:sp>
    </p:spTree>
    <p:extLst>
      <p:ext uri="{BB962C8B-B14F-4D97-AF65-F5344CB8AC3E}">
        <p14:creationId xmlns:p14="http://schemas.microsoft.com/office/powerpoint/2010/main" val="16890776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question. We want to limit how fast solar gets built. Korea's record year was 4.1 gigawatts, so something around 5 a year is realistic.</a:t>
            </a:r>
          </a:p>
          <a:p>
            <a:endParaRPr lang="en-US" dirty="0"/>
          </a:p>
          <a:p>
            <a:r>
              <a:rPr lang="en-US" dirty="0"/>
              <a:t>We can't write that. </a:t>
            </a:r>
            <a:r>
              <a:rPr lang="en-US" dirty="0" err="1"/>
              <a:t>MaxNewCapacityConstraint</a:t>
            </a:r>
            <a:r>
              <a:rPr lang="en-US" dirty="0"/>
              <a:t> works on one asset at a time, so there's no way to say "the country builds no more than 5 gigawatts a year."</a:t>
            </a:r>
          </a:p>
          <a:p>
            <a:endParaRPr lang="en-US" dirty="0"/>
          </a:p>
          <a:p>
            <a:r>
              <a:rPr lang="en-US" dirty="0"/>
              <a:t>All we can do is cap each province. And the </a:t>
            </a:r>
            <a:r>
              <a:rPr lang="en-US" dirty="0" err="1"/>
              <a:t>maths</a:t>
            </a:r>
            <a:r>
              <a:rPr lang="en-US" dirty="0"/>
              <a:t> doesn't work. We set 6,000 megawatts per province per five-year period — that's 1.2 gigawatts a year each. But there are seventeen provinces. </a:t>
            </a:r>
            <a:r>
              <a:rPr lang="en-US" b="1" dirty="0"/>
              <a:t>If they all hit the cap, that's 20 gigawatts a year. Four times what we wanted.</a:t>
            </a:r>
          </a:p>
          <a:p>
            <a:endParaRPr lang="en-US" dirty="0"/>
          </a:p>
          <a:p>
            <a:r>
              <a:rPr lang="en-US" dirty="0"/>
              <a:t>So — is there a grouped or system-wide version upstream that we could pull in? And if not, is </a:t>
            </a:r>
            <a:r>
              <a:rPr lang="en-US" dirty="0" err="1"/>
              <a:t>user_additions</a:t>
            </a:r>
            <a:r>
              <a:rPr lang="en-US" dirty="0"/>
              <a:t> where we should write our own?</a:t>
            </a:r>
          </a:p>
        </p:txBody>
      </p:sp>
      <p:sp>
        <p:nvSpPr>
          <p:cNvPr id="4" name="Slide Number Placeholder 3"/>
          <p:cNvSpPr>
            <a:spLocks noGrp="1"/>
          </p:cNvSpPr>
          <p:nvPr>
            <p:ph type="sldNum" sz="quarter" idx="5"/>
          </p:nvPr>
        </p:nvSpPr>
        <p:spPr/>
        <p:txBody>
          <a:bodyPr/>
          <a:lstStyle/>
          <a:p>
            <a:fld id="{1B5DD29B-16C2-0541-863F-EF6211F8CD5A}" type="slidenum">
              <a:rPr lang="en-US" smtClean="0"/>
              <a:t>6</a:t>
            </a:fld>
            <a:endParaRPr lang="en-US"/>
          </a:p>
        </p:txBody>
      </p:sp>
    </p:spTree>
    <p:extLst>
      <p:ext uri="{BB962C8B-B14F-4D97-AF65-F5344CB8AC3E}">
        <p14:creationId xmlns:p14="http://schemas.microsoft.com/office/powerpoint/2010/main" val="2752791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Second question, and it has two parts. Here's the first.</a:t>
            </a:r>
          </a:p>
          <a:p>
            <a:endParaRPr lang="en-US" dirty="0"/>
          </a:p>
          <a:p>
            <a:r>
              <a:rPr lang="en-US" dirty="0"/>
              <a:t>▎ We wanted every thermal plant to have a minimum stable output — the floor a running unit can't go below. So we switched that constraint on for all five thermal technologies.</a:t>
            </a:r>
          </a:p>
          <a:p>
            <a:endParaRPr lang="en-US" dirty="0"/>
          </a:p>
          <a:p>
            <a:r>
              <a:rPr lang="en-US" dirty="0"/>
              <a:t>▎ The model only got a few percent bigger. But it ran out of memory anyway, and two jobs died.</a:t>
            </a:r>
          </a:p>
          <a:p>
            <a:endParaRPr lang="en-US" dirty="0"/>
          </a:p>
          <a:p>
            <a:r>
              <a:rPr lang="en-US" dirty="0"/>
              <a:t>▎ So we turned it back off for nuclear and the two CCS technologies, kept it on coal and gas, and gave the job more memory. It runs now.</a:t>
            </a:r>
          </a:p>
          <a:p>
            <a:endParaRPr lang="en-US" dirty="0"/>
          </a:p>
          <a:p>
            <a:r>
              <a:rPr lang="en-US" dirty="0"/>
              <a:t>▎ But that leaves us somewhere uncomfortable. Those three technologies still have a minimum-output value sitting in their input files. The constraint just isn't switched on. So the number is there, and as far as we know it does nothing.</a:t>
            </a:r>
          </a:p>
          <a:p>
            <a:endParaRPr lang="en-US" dirty="0"/>
          </a:p>
          <a:p>
            <a:r>
              <a:rPr lang="en-US" dirty="0"/>
              <a:t>▎ Three things I'd like to know. Is that kind of growth normal for this constraint? Is there a cheaper way to write it when unit commitment is relaxed? </a:t>
            </a:r>
          </a:p>
        </p:txBody>
      </p:sp>
      <p:sp>
        <p:nvSpPr>
          <p:cNvPr id="4" name="Slide Number Placeholder 3"/>
          <p:cNvSpPr>
            <a:spLocks noGrp="1"/>
          </p:cNvSpPr>
          <p:nvPr>
            <p:ph type="sldNum" sz="quarter" idx="5"/>
          </p:nvPr>
        </p:nvSpPr>
        <p:spPr/>
        <p:txBody>
          <a:bodyPr/>
          <a:lstStyle/>
          <a:p>
            <a:fld id="{1B5DD29B-16C2-0541-863F-EF6211F8CD5A}" type="slidenum">
              <a:rPr lang="en-US" smtClean="0"/>
              <a:t>7</a:t>
            </a:fld>
            <a:endParaRPr lang="en-US"/>
          </a:p>
        </p:txBody>
      </p:sp>
    </p:spTree>
    <p:extLst>
      <p:ext uri="{BB962C8B-B14F-4D97-AF65-F5344CB8AC3E}">
        <p14:creationId xmlns:p14="http://schemas.microsoft.com/office/powerpoint/2010/main" val="26848601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Second part. And I've partly answered this one myself since I made the slide.</a:t>
            </a:r>
          </a:p>
          <a:p>
            <a:endParaRPr lang="en-US" dirty="0"/>
          </a:p>
          <a:p>
            <a:r>
              <a:rPr lang="en-US" dirty="0"/>
              <a:t>▎ Nuclear is held at a fixed 85% of capacity. In MACRO, </a:t>
            </a:r>
            <a:r>
              <a:rPr lang="en-US" dirty="0" err="1"/>
              <a:t>MustRun</a:t>
            </a:r>
            <a:r>
              <a:rPr lang="en-US" dirty="0"/>
              <a:t> isn't a floor — it's an equality. So nuclear produces exactly the same amount in every hour of the year. It's a flat line. It can't go up and it can't come down.</a:t>
            </a:r>
          </a:p>
          <a:p>
            <a:endParaRPr lang="en-US" dirty="0"/>
          </a:p>
          <a:p>
            <a:r>
              <a:rPr lang="en-US" dirty="0"/>
              <a:t>▎ I was going to ask you what we should use instead. But Korean data mostly answers that.</a:t>
            </a:r>
          </a:p>
          <a:p>
            <a:endParaRPr lang="en-US" dirty="0"/>
          </a:p>
          <a:p>
            <a:r>
              <a:rPr lang="en-US" dirty="0"/>
              <a:t>▎ Korea already turns nuclear down. In early 2025 it happened twenty-one times at a single plant. The current operating floor is 80% of rated output, and KHNP's plan is to reach 50% by the early 2030s. The reactors are designed for it.</a:t>
            </a:r>
          </a:p>
          <a:p>
            <a:endParaRPr lang="en-US" dirty="0"/>
          </a:p>
          <a:p>
            <a:r>
              <a:rPr lang="en-US" dirty="0"/>
              <a:t>▎ So our model is more rigid than the real fleet is today — let alone in 2050.</a:t>
            </a:r>
          </a:p>
          <a:p>
            <a:endParaRPr lang="en-US" dirty="0"/>
          </a:p>
          <a:p>
            <a:r>
              <a:rPr lang="en-US" dirty="0"/>
              <a:t>▎ This table is what we'd change. Drop </a:t>
            </a:r>
            <a:r>
              <a:rPr lang="en-US" dirty="0" err="1"/>
              <a:t>MustRun</a:t>
            </a:r>
            <a:r>
              <a:rPr lang="en-US" dirty="0"/>
              <a:t>, switch </a:t>
            </a:r>
            <a:r>
              <a:rPr lang="en-US" dirty="0" err="1"/>
              <a:t>MinFlow</a:t>
            </a:r>
            <a:r>
              <a:rPr lang="en-US" dirty="0"/>
              <a:t> on, and let the floor come down over time. 80% now, 50% by the 2040s, following the policy path.</a:t>
            </a:r>
          </a:p>
          <a:p>
            <a:endParaRPr lang="en-US" dirty="0"/>
          </a:p>
          <a:p>
            <a:r>
              <a:rPr lang="en-US" dirty="0"/>
              <a:t>▎ Which puts us straight back on the last question. </a:t>
            </a:r>
            <a:r>
              <a:rPr lang="en-US" dirty="0" err="1"/>
              <a:t>MinFlow</a:t>
            </a:r>
            <a:r>
              <a:rPr lang="en-US" dirty="0"/>
              <a:t> is exactly the constraint that ran us out of memory.</a:t>
            </a:r>
          </a:p>
        </p:txBody>
      </p:sp>
      <p:sp>
        <p:nvSpPr>
          <p:cNvPr id="4" name="Slide Number Placeholder 3"/>
          <p:cNvSpPr>
            <a:spLocks noGrp="1"/>
          </p:cNvSpPr>
          <p:nvPr>
            <p:ph type="sldNum" sz="quarter" idx="5"/>
          </p:nvPr>
        </p:nvSpPr>
        <p:spPr/>
        <p:txBody>
          <a:bodyPr/>
          <a:lstStyle/>
          <a:p>
            <a:fld id="{1B5DD29B-16C2-0541-863F-EF6211F8CD5A}" type="slidenum">
              <a:rPr lang="en-US" smtClean="0"/>
              <a:t>8</a:t>
            </a:fld>
            <a:endParaRPr lang="en-US"/>
          </a:p>
        </p:txBody>
      </p:sp>
    </p:spTree>
    <p:extLst>
      <p:ext uri="{BB962C8B-B14F-4D97-AF65-F5344CB8AC3E}">
        <p14:creationId xmlns:p14="http://schemas.microsoft.com/office/powerpoint/2010/main" val="40247683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Third question, and it follows straight on.</a:t>
            </a:r>
          </a:p>
          <a:p>
            <a:endParaRPr lang="en-US" dirty="0"/>
          </a:p>
          <a:p>
            <a:r>
              <a:rPr lang="en-US" dirty="0"/>
              <a:t>▎ In 2050 nuclear can't move — and it's big. At three in the morning, nuclear alone is already producing more than the whole country needs. For about a third of the year, nuclear plus solar covers demand on their own.</a:t>
            </a:r>
          </a:p>
          <a:p>
            <a:endParaRPr lang="en-US" dirty="0"/>
          </a:p>
          <a:p>
            <a:r>
              <a:rPr lang="en-US" dirty="0"/>
              <a:t>▎ Nothing can absorb the surplus. Batteries are short. We have no long-duration storage, no hydrogen, no demand response. CCS is capped by how much CO₂ we can store.</a:t>
            </a:r>
          </a:p>
          <a:p>
            <a:endParaRPr lang="en-US" dirty="0"/>
          </a:p>
          <a:p>
            <a:r>
              <a:rPr lang="en-US" dirty="0"/>
              <a:t>▎ So to meet the carbon cap, the model builds more solar and throws most of it away. Fifty terawatt-hours a year.</a:t>
            </a:r>
          </a:p>
          <a:p>
            <a:endParaRPr lang="en-US" dirty="0"/>
          </a:p>
          <a:p>
            <a:r>
              <a:rPr lang="en-US" dirty="0"/>
              <a:t>▎ And the carbon price goes to several thousand dollars a </a:t>
            </a:r>
            <a:r>
              <a:rPr lang="en-US" dirty="0" err="1"/>
              <a:t>tonne</a:t>
            </a:r>
            <a:r>
              <a:rPr lang="en-US" dirty="0"/>
              <a:t>. Forty to a hundred times the EU ETS.</a:t>
            </a:r>
          </a:p>
        </p:txBody>
      </p:sp>
      <p:sp>
        <p:nvSpPr>
          <p:cNvPr id="4" name="Slide Number Placeholder 3"/>
          <p:cNvSpPr>
            <a:spLocks noGrp="1"/>
          </p:cNvSpPr>
          <p:nvPr>
            <p:ph type="sldNum" sz="quarter" idx="5"/>
          </p:nvPr>
        </p:nvSpPr>
        <p:spPr/>
        <p:txBody>
          <a:bodyPr/>
          <a:lstStyle/>
          <a:p>
            <a:fld id="{1B5DD29B-16C2-0541-863F-EF6211F8CD5A}" type="slidenum">
              <a:rPr lang="en-US" smtClean="0"/>
              <a:t>9</a:t>
            </a:fld>
            <a:endParaRPr lang="en-US"/>
          </a:p>
        </p:txBody>
      </p:sp>
    </p:spTree>
    <p:extLst>
      <p:ext uri="{BB962C8B-B14F-4D97-AF65-F5344CB8AC3E}">
        <p14:creationId xmlns:p14="http://schemas.microsoft.com/office/powerpoint/2010/main" val="39106216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14400" y="2057400"/>
            <a:ext cx="2011680" cy="52000"/>
          </a:xfrm>
          <a:prstGeom prst="rect">
            <a:avLst/>
          </a:prstGeom>
          <a:solidFill>
            <a:srgbClr val="D98C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240280"/>
            <a:ext cx="10515600" cy="1097280"/>
          </a:xfrm>
          <a:prstGeom prst="rect">
            <a:avLst/>
          </a:prstGeom>
          <a:noFill/>
        </p:spPr>
        <p:txBody>
          <a:bodyPr wrap="square">
            <a:spAutoFit/>
          </a:bodyPr>
          <a:lstStyle/>
          <a:p>
            <a:pPr algn="l">
              <a:spcAft>
                <a:spcPts val="400"/>
              </a:spcAft>
            </a:pPr>
            <a:r>
              <a:rPr sz="4000" b="1">
                <a:solidFill>
                  <a:srgbClr val="1C2A3A"/>
                </a:solidFill>
                <a:latin typeface="Calibri"/>
              </a:rPr>
              <a:t>MACRO-Korea: open technical questions</a:t>
            </a:r>
          </a:p>
        </p:txBody>
      </p:sp>
      <p:sp>
        <p:nvSpPr>
          <p:cNvPr id="4" name="TextBox 3"/>
          <p:cNvSpPr txBox="1"/>
          <p:nvPr/>
        </p:nvSpPr>
        <p:spPr>
          <a:xfrm>
            <a:off x="914400" y="3200400"/>
            <a:ext cx="10058400" cy="457200"/>
          </a:xfrm>
          <a:prstGeom prst="rect">
            <a:avLst/>
          </a:prstGeom>
          <a:noFill/>
        </p:spPr>
        <p:txBody>
          <a:bodyPr wrap="square">
            <a:spAutoFit/>
          </a:bodyPr>
          <a:lstStyle/>
          <a:p>
            <a:pPr algn="l">
              <a:spcAft>
                <a:spcPts val="400"/>
              </a:spcAft>
            </a:pPr>
            <a:r>
              <a:rPr sz="1600" b="0">
                <a:solidFill>
                  <a:srgbClr val="6B7A8C"/>
                </a:solidFill>
                <a:latin typeface="Calibri"/>
              </a:rPr>
              <a:t>Provincial power-sector model · 17 provinces · 8,760 chronological hours · 2021–2050 myopic</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3C7475-9997-8A75-F5E9-A2914F4F942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AF0E74F-C2B0-B3E6-7188-443427D11EDF}"/>
              </a:ext>
            </a:extLst>
          </p:cNvPr>
          <p:cNvSpPr/>
          <p:nvPr/>
        </p:nvSpPr>
        <p:spPr>
          <a:xfrm>
            <a:off x="548640" y="384048"/>
            <a:ext cx="1371600" cy="34000"/>
          </a:xfrm>
          <a:prstGeom prst="rect">
            <a:avLst/>
          </a:prstGeom>
          <a:solidFill>
            <a:srgbClr val="D98C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48BBB4F4-AD23-8097-462F-C48BEA3290EA}"/>
              </a:ext>
            </a:extLst>
          </p:cNvPr>
          <p:cNvSpPr txBox="1"/>
          <p:nvPr/>
        </p:nvSpPr>
        <p:spPr>
          <a:xfrm>
            <a:off x="548640" y="418048"/>
            <a:ext cx="10972800" cy="523220"/>
          </a:xfrm>
          <a:prstGeom prst="rect">
            <a:avLst/>
          </a:prstGeom>
          <a:noFill/>
        </p:spPr>
        <p:txBody>
          <a:bodyPr wrap="square">
            <a:spAutoFit/>
          </a:bodyPr>
          <a:lstStyle/>
          <a:p>
            <a:pPr algn="l">
              <a:spcAft>
                <a:spcPts val="400"/>
              </a:spcAft>
            </a:pPr>
            <a:r>
              <a:rPr lang="en-US" sz="2800" b="1" dirty="0">
                <a:solidFill>
                  <a:srgbClr val="1C2A3A"/>
                </a:solidFill>
                <a:latin typeface="Calibri"/>
              </a:rPr>
              <a:t>Agenda</a:t>
            </a:r>
            <a:endParaRPr sz="2800" b="1" dirty="0">
              <a:solidFill>
                <a:srgbClr val="1C2A3A"/>
              </a:solidFill>
              <a:latin typeface="Calibri"/>
            </a:endParaRPr>
          </a:p>
        </p:txBody>
      </p:sp>
      <p:sp>
        <p:nvSpPr>
          <p:cNvPr id="6" name="TextBox 5">
            <a:extLst>
              <a:ext uri="{FF2B5EF4-FFF2-40B4-BE49-F238E27FC236}">
                <a16:creationId xmlns:a16="http://schemas.microsoft.com/office/drawing/2014/main" id="{2589283B-D5A8-378E-29BD-6405E5C360EE}"/>
              </a:ext>
            </a:extLst>
          </p:cNvPr>
          <p:cNvSpPr txBox="1"/>
          <p:nvPr/>
        </p:nvSpPr>
        <p:spPr>
          <a:xfrm>
            <a:off x="548640" y="1029681"/>
            <a:ext cx="10898810" cy="3071097"/>
          </a:xfrm>
          <a:prstGeom prst="rect">
            <a:avLst/>
          </a:prstGeom>
          <a:noFill/>
        </p:spPr>
        <p:txBody>
          <a:bodyPr wrap="square">
            <a:spAutoFit/>
          </a:bodyPr>
          <a:lstStyle/>
          <a:p>
            <a:pPr marL="285750" indent="-285750" algn="l">
              <a:lnSpc>
                <a:spcPct val="150000"/>
              </a:lnSpc>
              <a:spcAft>
                <a:spcPts val="400"/>
              </a:spcAft>
              <a:buFont typeface="Arial" panose="020B0604020202020204" pitchFamily="34" charset="0"/>
              <a:buChar char="•"/>
            </a:pPr>
            <a:r>
              <a:rPr lang="en-US" sz="2000" b="0" dirty="0">
                <a:solidFill>
                  <a:srgbClr val="1C2A3A"/>
                </a:solidFill>
                <a:latin typeface="Calibri"/>
              </a:rPr>
              <a:t>2021 Calibration issue - after changed the transmission </a:t>
            </a:r>
          </a:p>
          <a:p>
            <a:pPr marL="285750" indent="-285750" algn="l">
              <a:lnSpc>
                <a:spcPct val="150000"/>
              </a:lnSpc>
              <a:spcAft>
                <a:spcPts val="400"/>
              </a:spcAft>
              <a:buFont typeface="Arial" panose="020B0604020202020204" pitchFamily="34" charset="0"/>
              <a:buChar char="•"/>
            </a:pPr>
            <a:r>
              <a:rPr lang="en-US" sz="2000" b="0" dirty="0">
                <a:solidFill>
                  <a:srgbClr val="1C2A3A"/>
                </a:solidFill>
                <a:latin typeface="Calibri"/>
              </a:rPr>
              <a:t>Capacity expansion and generation by tech</a:t>
            </a:r>
            <a:r>
              <a:rPr lang="ko-KR" altLang="en-US" sz="2000" b="0" dirty="0">
                <a:solidFill>
                  <a:srgbClr val="1C2A3A"/>
                </a:solidFill>
                <a:latin typeface="Calibri"/>
              </a:rPr>
              <a:t> </a:t>
            </a:r>
            <a:r>
              <a:rPr lang="en-US" altLang="ko-KR" sz="2000" b="0" dirty="0">
                <a:solidFill>
                  <a:srgbClr val="1C2A3A"/>
                </a:solidFill>
                <a:latin typeface="Calibri"/>
              </a:rPr>
              <a:t>(</a:t>
            </a:r>
            <a:r>
              <a:rPr lang="en-US" altLang="ko-KR" sz="2000" dirty="0">
                <a:solidFill>
                  <a:srgbClr val="1C2A3A"/>
                </a:solidFill>
                <a:latin typeface="Calibri"/>
              </a:rPr>
              <a:t>Ref vs NDC)</a:t>
            </a:r>
            <a:r>
              <a:rPr lang="en-US" sz="2000" b="0" dirty="0">
                <a:solidFill>
                  <a:srgbClr val="1C2A3A"/>
                </a:solidFill>
                <a:latin typeface="Calibri"/>
              </a:rPr>
              <a:t> – diagnosis </a:t>
            </a:r>
          </a:p>
          <a:p>
            <a:pPr marL="285750" indent="-285750">
              <a:lnSpc>
                <a:spcPct val="150000"/>
              </a:lnSpc>
              <a:spcAft>
                <a:spcPts val="400"/>
              </a:spcAft>
              <a:buFont typeface="Arial" panose="020B0604020202020204" pitchFamily="34" charset="0"/>
              <a:buChar char="•"/>
            </a:pPr>
            <a:r>
              <a:rPr lang="en-US" sz="2000" b="0" dirty="0">
                <a:solidFill>
                  <a:srgbClr val="1C2A3A"/>
                </a:solidFill>
                <a:latin typeface="Calibri"/>
              </a:rPr>
              <a:t>Renewable energy expansion </a:t>
            </a:r>
            <a:r>
              <a:rPr lang="en-US" sz="2000" dirty="0">
                <a:solidFill>
                  <a:srgbClr val="1C2A3A"/>
                </a:solidFill>
              </a:rPr>
              <a:t>rate -  Can we limit a national build rate?</a:t>
            </a:r>
            <a:endParaRPr lang="en-US" sz="2000" b="0" dirty="0">
              <a:solidFill>
                <a:srgbClr val="1C2A3A"/>
              </a:solidFill>
              <a:latin typeface="Calibri"/>
            </a:endParaRPr>
          </a:p>
          <a:p>
            <a:pPr marL="285750" indent="-285750">
              <a:lnSpc>
                <a:spcPct val="150000"/>
              </a:lnSpc>
              <a:spcAft>
                <a:spcPts val="400"/>
              </a:spcAft>
              <a:buFont typeface="Arial" panose="020B0604020202020204" pitchFamily="34" charset="0"/>
              <a:buChar char="•"/>
            </a:pPr>
            <a:r>
              <a:rPr lang="en-US" sz="2000" dirty="0">
                <a:solidFill>
                  <a:srgbClr val="1C2A3A"/>
                </a:solidFill>
                <a:latin typeface="Calibri"/>
              </a:rPr>
              <a:t>Unit commitment parameter </a:t>
            </a:r>
            <a:r>
              <a:rPr lang="en-US" sz="2000" dirty="0">
                <a:solidFill>
                  <a:srgbClr val="1C2A3A"/>
                </a:solidFill>
              </a:rPr>
              <a:t>- How should nuclear and </a:t>
            </a:r>
            <a:r>
              <a:rPr lang="en-US" sz="2000" dirty="0" err="1">
                <a:solidFill>
                  <a:srgbClr val="1C2A3A"/>
                </a:solidFill>
              </a:rPr>
              <a:t>MinFlow</a:t>
            </a:r>
            <a:r>
              <a:rPr lang="en-US" sz="2000" dirty="0">
                <a:solidFill>
                  <a:srgbClr val="1C2A3A"/>
                </a:solidFill>
              </a:rPr>
              <a:t> be configured?</a:t>
            </a:r>
            <a:endParaRPr lang="en-US" sz="2000" dirty="0">
              <a:solidFill>
                <a:srgbClr val="1C2A3A"/>
              </a:solidFill>
              <a:latin typeface="Calibri"/>
            </a:endParaRPr>
          </a:p>
          <a:p>
            <a:pPr marL="285750" indent="-285750">
              <a:lnSpc>
                <a:spcPct val="150000"/>
              </a:lnSpc>
              <a:spcAft>
                <a:spcPts val="400"/>
              </a:spcAft>
              <a:buFont typeface="Arial" panose="020B0604020202020204" pitchFamily="34" charset="0"/>
              <a:buChar char="•"/>
            </a:pPr>
            <a:r>
              <a:rPr lang="en-US" sz="2000" dirty="0">
                <a:solidFill>
                  <a:srgbClr val="1C2A3A"/>
                </a:solidFill>
                <a:latin typeface="Calibri"/>
              </a:rPr>
              <a:t>Carbon </a:t>
            </a:r>
            <a:r>
              <a:rPr lang="en-US" sz="2000" dirty="0">
                <a:solidFill>
                  <a:srgbClr val="1C2A3A"/>
                </a:solidFill>
              </a:rPr>
              <a:t>price (related to nuclear) - Is the carbon price real?</a:t>
            </a:r>
            <a:endParaRPr lang="en-US" sz="2000" dirty="0">
              <a:solidFill>
                <a:srgbClr val="1C2A3A"/>
              </a:solidFill>
              <a:latin typeface="Calibri"/>
            </a:endParaRPr>
          </a:p>
          <a:p>
            <a:pPr marL="285750" indent="-285750" algn="l">
              <a:lnSpc>
                <a:spcPct val="150000"/>
              </a:lnSpc>
              <a:spcAft>
                <a:spcPts val="400"/>
              </a:spcAft>
              <a:buFont typeface="Arial" panose="020B0604020202020204" pitchFamily="34" charset="0"/>
              <a:buChar char="•"/>
            </a:pPr>
            <a:endParaRPr lang="en-US" sz="2000" dirty="0">
              <a:solidFill>
                <a:srgbClr val="1C2A3A"/>
              </a:solidFill>
              <a:latin typeface="Calibri"/>
            </a:endParaRPr>
          </a:p>
        </p:txBody>
      </p:sp>
    </p:spTree>
    <p:extLst>
      <p:ext uri="{BB962C8B-B14F-4D97-AF65-F5344CB8AC3E}">
        <p14:creationId xmlns:p14="http://schemas.microsoft.com/office/powerpoint/2010/main" val="21258019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384048"/>
            <a:ext cx="1371600" cy="34000"/>
          </a:xfrm>
          <a:prstGeom prst="rect">
            <a:avLst/>
          </a:prstGeom>
          <a:solidFill>
            <a:srgbClr val="D98C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75488"/>
            <a:ext cx="10058400" cy="274320"/>
          </a:xfrm>
          <a:prstGeom prst="rect">
            <a:avLst/>
          </a:prstGeom>
          <a:noFill/>
        </p:spPr>
        <p:txBody>
          <a:bodyPr wrap="square">
            <a:spAutoFit/>
          </a:bodyPr>
          <a:lstStyle/>
          <a:p>
            <a:pPr algn="l">
              <a:spcAft>
                <a:spcPts val="400"/>
              </a:spcAft>
            </a:pPr>
            <a:r>
              <a:rPr sz="1300" b="1">
                <a:solidFill>
                  <a:srgbClr val="D98C1F"/>
                </a:solidFill>
                <a:latin typeface="Calibri"/>
              </a:rPr>
              <a:t>STATUS</a:t>
            </a:r>
          </a:p>
        </p:txBody>
      </p:sp>
      <p:sp>
        <p:nvSpPr>
          <p:cNvPr id="4" name="TextBox 3"/>
          <p:cNvSpPr txBox="1"/>
          <p:nvPr/>
        </p:nvSpPr>
        <p:spPr>
          <a:xfrm>
            <a:off x="548640" y="749808"/>
            <a:ext cx="10972800" cy="640080"/>
          </a:xfrm>
          <a:prstGeom prst="rect">
            <a:avLst/>
          </a:prstGeom>
          <a:noFill/>
        </p:spPr>
        <p:txBody>
          <a:bodyPr wrap="square">
            <a:spAutoFit/>
          </a:bodyPr>
          <a:lstStyle/>
          <a:p>
            <a:pPr algn="l">
              <a:spcAft>
                <a:spcPts val="400"/>
              </a:spcAft>
            </a:pPr>
            <a:r>
              <a:rPr sz="2700" b="1">
                <a:solidFill>
                  <a:srgbClr val="1C2A3A"/>
                </a:solidFill>
                <a:latin typeface="Calibri"/>
              </a:rPr>
              <a:t>Where the model is</a:t>
            </a:r>
          </a:p>
        </p:txBody>
      </p:sp>
      <p:sp>
        <p:nvSpPr>
          <p:cNvPr id="5" name="TextBox 4"/>
          <p:cNvSpPr txBox="1"/>
          <p:nvPr/>
        </p:nvSpPr>
        <p:spPr>
          <a:xfrm>
            <a:off x="640080" y="1691640"/>
            <a:ext cx="2286000" cy="365760"/>
          </a:xfrm>
          <a:prstGeom prst="rect">
            <a:avLst/>
          </a:prstGeom>
          <a:noFill/>
        </p:spPr>
        <p:txBody>
          <a:bodyPr wrap="square">
            <a:spAutoFit/>
          </a:bodyPr>
          <a:lstStyle/>
          <a:p>
            <a:pPr algn="l">
              <a:spcAft>
                <a:spcPts val="400"/>
              </a:spcAft>
            </a:pPr>
            <a:r>
              <a:rPr b="1">
                <a:solidFill>
                  <a:srgbClr val="6B7A8C"/>
                </a:solidFill>
                <a:latin typeface="Calibri"/>
              </a:rPr>
              <a:t>Structure</a:t>
            </a:r>
          </a:p>
        </p:txBody>
      </p:sp>
      <p:sp>
        <p:nvSpPr>
          <p:cNvPr id="6" name="TextBox 5"/>
          <p:cNvSpPr txBox="1"/>
          <p:nvPr/>
        </p:nvSpPr>
        <p:spPr>
          <a:xfrm>
            <a:off x="3017520" y="1691640"/>
            <a:ext cx="8595360" cy="369332"/>
          </a:xfrm>
          <a:prstGeom prst="rect">
            <a:avLst/>
          </a:prstGeom>
          <a:noFill/>
        </p:spPr>
        <p:txBody>
          <a:bodyPr wrap="square">
            <a:spAutoFit/>
          </a:bodyPr>
          <a:lstStyle/>
          <a:p>
            <a:pPr algn="l">
              <a:spcAft>
                <a:spcPts val="400"/>
              </a:spcAft>
            </a:pPr>
            <a:r>
              <a:rPr b="0">
                <a:solidFill>
                  <a:srgbClr val="1C2A3A"/>
                </a:solidFill>
                <a:latin typeface="Calibri"/>
              </a:rPr>
              <a:t>Complete. 7 periods, 8,760 h, linear-relaxed UC, myopic, Gurobi barrier.</a:t>
            </a:r>
          </a:p>
        </p:txBody>
      </p:sp>
      <p:sp>
        <p:nvSpPr>
          <p:cNvPr id="7" name="TextBox 6"/>
          <p:cNvSpPr txBox="1"/>
          <p:nvPr/>
        </p:nvSpPr>
        <p:spPr>
          <a:xfrm>
            <a:off x="640080" y="2441448"/>
            <a:ext cx="2286000" cy="365760"/>
          </a:xfrm>
          <a:prstGeom prst="rect">
            <a:avLst/>
          </a:prstGeom>
          <a:noFill/>
        </p:spPr>
        <p:txBody>
          <a:bodyPr wrap="square">
            <a:spAutoFit/>
          </a:bodyPr>
          <a:lstStyle/>
          <a:p>
            <a:pPr algn="l">
              <a:spcAft>
                <a:spcPts val="400"/>
              </a:spcAft>
            </a:pPr>
            <a:r>
              <a:rPr b="1">
                <a:solidFill>
                  <a:srgbClr val="6B7A8C"/>
                </a:solidFill>
                <a:latin typeface="Calibri"/>
              </a:rPr>
              <a:t>Solve</a:t>
            </a:r>
          </a:p>
        </p:txBody>
      </p:sp>
      <p:sp>
        <p:nvSpPr>
          <p:cNvPr id="8" name="TextBox 7"/>
          <p:cNvSpPr txBox="1"/>
          <p:nvPr/>
        </p:nvSpPr>
        <p:spPr>
          <a:xfrm>
            <a:off x="3017520" y="2441448"/>
            <a:ext cx="8595360" cy="369332"/>
          </a:xfrm>
          <a:prstGeom prst="rect">
            <a:avLst/>
          </a:prstGeom>
          <a:noFill/>
        </p:spPr>
        <p:txBody>
          <a:bodyPr wrap="square">
            <a:spAutoFit/>
          </a:bodyPr>
          <a:lstStyle/>
          <a:p>
            <a:pPr algn="l">
              <a:spcAft>
                <a:spcPts val="400"/>
              </a:spcAft>
            </a:pPr>
            <a:r>
              <a:rPr b="0">
                <a:solidFill>
                  <a:srgbClr val="1C2A3A"/>
                </a:solidFill>
                <a:latin typeface="Calibri"/>
              </a:rPr>
              <a:t>Ref 2.5 h · NDC 4.6 h on 24 cores / 192 GB. ~13.6M rows.</a:t>
            </a:r>
          </a:p>
        </p:txBody>
      </p:sp>
      <p:sp>
        <p:nvSpPr>
          <p:cNvPr id="9" name="TextBox 8"/>
          <p:cNvSpPr txBox="1"/>
          <p:nvPr/>
        </p:nvSpPr>
        <p:spPr>
          <a:xfrm>
            <a:off x="640080" y="3191256"/>
            <a:ext cx="2286000" cy="365760"/>
          </a:xfrm>
          <a:prstGeom prst="rect">
            <a:avLst/>
          </a:prstGeom>
          <a:noFill/>
        </p:spPr>
        <p:txBody>
          <a:bodyPr wrap="square">
            <a:spAutoFit/>
          </a:bodyPr>
          <a:lstStyle/>
          <a:p>
            <a:pPr algn="l">
              <a:spcAft>
                <a:spcPts val="400"/>
              </a:spcAft>
            </a:pPr>
            <a:r>
              <a:rPr b="1">
                <a:solidFill>
                  <a:srgbClr val="6B7A8C"/>
                </a:solidFill>
                <a:latin typeface="Calibri"/>
              </a:rPr>
              <a:t>Transmission</a:t>
            </a:r>
          </a:p>
        </p:txBody>
      </p:sp>
      <p:sp>
        <p:nvSpPr>
          <p:cNvPr id="10" name="TextBox 9"/>
          <p:cNvSpPr txBox="1"/>
          <p:nvPr/>
        </p:nvSpPr>
        <p:spPr>
          <a:xfrm>
            <a:off x="3017520" y="3191256"/>
            <a:ext cx="8595360" cy="369332"/>
          </a:xfrm>
          <a:prstGeom prst="rect">
            <a:avLst/>
          </a:prstGeom>
          <a:noFill/>
        </p:spPr>
        <p:txBody>
          <a:bodyPr wrap="square">
            <a:spAutoFit/>
          </a:bodyPr>
          <a:lstStyle/>
          <a:p>
            <a:pPr algn="l">
              <a:spcAft>
                <a:spcPts val="400"/>
              </a:spcAft>
            </a:pPr>
            <a:r>
              <a:rPr b="0">
                <a:solidFill>
                  <a:srgbClr val="1C2A3A"/>
                </a:solidFill>
                <a:latin typeface="Calibri"/>
              </a:rPr>
              <a:t>99.1 GW network from NREL ITLs, calibrated to the KPX metro limit. Expands.</a:t>
            </a:r>
          </a:p>
        </p:txBody>
      </p:sp>
      <p:sp>
        <p:nvSpPr>
          <p:cNvPr id="11" name="TextBox 10"/>
          <p:cNvSpPr txBox="1"/>
          <p:nvPr/>
        </p:nvSpPr>
        <p:spPr>
          <a:xfrm>
            <a:off x="640080" y="3941064"/>
            <a:ext cx="2286000" cy="365760"/>
          </a:xfrm>
          <a:prstGeom prst="rect">
            <a:avLst/>
          </a:prstGeom>
          <a:noFill/>
        </p:spPr>
        <p:txBody>
          <a:bodyPr wrap="square">
            <a:spAutoFit/>
          </a:bodyPr>
          <a:lstStyle/>
          <a:p>
            <a:pPr algn="l">
              <a:spcAft>
                <a:spcPts val="400"/>
              </a:spcAft>
            </a:pPr>
            <a:r>
              <a:rPr b="1">
                <a:solidFill>
                  <a:srgbClr val="6B7A8C"/>
                </a:solidFill>
                <a:latin typeface="Calibri"/>
              </a:rPr>
              <a:t>Base year</a:t>
            </a:r>
          </a:p>
        </p:txBody>
      </p:sp>
      <p:sp>
        <p:nvSpPr>
          <p:cNvPr id="12" name="TextBox 11"/>
          <p:cNvSpPr txBox="1"/>
          <p:nvPr/>
        </p:nvSpPr>
        <p:spPr>
          <a:xfrm>
            <a:off x="3017520" y="3941064"/>
            <a:ext cx="8595360" cy="369332"/>
          </a:xfrm>
          <a:prstGeom prst="rect">
            <a:avLst/>
          </a:prstGeom>
          <a:noFill/>
        </p:spPr>
        <p:txBody>
          <a:bodyPr wrap="square">
            <a:spAutoFit/>
          </a:bodyPr>
          <a:lstStyle/>
          <a:p>
            <a:pPr algn="l">
              <a:spcAft>
                <a:spcPts val="400"/>
              </a:spcAft>
            </a:pPr>
            <a:r>
              <a:rPr b="0">
                <a:solidFill>
                  <a:srgbClr val="C0392B"/>
                </a:solidFill>
                <a:latin typeface="Calibri"/>
              </a:rPr>
              <a:t>NOT calibrated. Coal 300 TWh vs 198 observed; gas 58 vs 167.</a:t>
            </a:r>
          </a:p>
        </p:txBody>
      </p:sp>
      <p:sp>
        <p:nvSpPr>
          <p:cNvPr id="13" name="TextBox 12"/>
          <p:cNvSpPr txBox="1"/>
          <p:nvPr/>
        </p:nvSpPr>
        <p:spPr>
          <a:xfrm>
            <a:off x="640080" y="4690872"/>
            <a:ext cx="2286000" cy="365760"/>
          </a:xfrm>
          <a:prstGeom prst="rect">
            <a:avLst/>
          </a:prstGeom>
          <a:noFill/>
        </p:spPr>
        <p:txBody>
          <a:bodyPr wrap="square">
            <a:spAutoFit/>
          </a:bodyPr>
          <a:lstStyle/>
          <a:p>
            <a:pPr algn="l">
              <a:spcAft>
                <a:spcPts val="400"/>
              </a:spcAft>
            </a:pPr>
            <a:r>
              <a:rPr b="1">
                <a:solidFill>
                  <a:srgbClr val="6B7A8C"/>
                </a:solidFill>
                <a:latin typeface="Calibri"/>
              </a:rPr>
              <a:t>Staged fixes</a:t>
            </a:r>
          </a:p>
        </p:txBody>
      </p:sp>
      <p:sp>
        <p:nvSpPr>
          <p:cNvPr id="14" name="TextBox 13"/>
          <p:cNvSpPr txBox="1"/>
          <p:nvPr/>
        </p:nvSpPr>
        <p:spPr>
          <a:xfrm>
            <a:off x="3017520" y="4690872"/>
            <a:ext cx="8595360" cy="369332"/>
          </a:xfrm>
          <a:prstGeom prst="rect">
            <a:avLst/>
          </a:prstGeom>
          <a:noFill/>
        </p:spPr>
        <p:txBody>
          <a:bodyPr wrap="square">
            <a:spAutoFit/>
          </a:bodyPr>
          <a:lstStyle/>
          <a:p>
            <a:pPr algn="l">
              <a:spcAft>
                <a:spcPts val="400"/>
              </a:spcAft>
            </a:pPr>
            <a:r>
              <a:rPr b="0" dirty="0">
                <a:solidFill>
                  <a:srgbClr val="D98C1F"/>
                </a:solidFill>
                <a:latin typeface="Calibri"/>
              </a:rPr>
              <a:t>Coal availability 0.65 · nuclear 0.85→0.78 · 2021 gas retirement blocked.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384048"/>
            <a:ext cx="1371600" cy="34000"/>
          </a:xfrm>
          <a:prstGeom prst="rect">
            <a:avLst/>
          </a:prstGeom>
          <a:solidFill>
            <a:srgbClr val="D98C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75488"/>
            <a:ext cx="10058400" cy="274320"/>
          </a:xfrm>
          <a:prstGeom prst="rect">
            <a:avLst/>
          </a:prstGeom>
          <a:noFill/>
        </p:spPr>
        <p:txBody>
          <a:bodyPr wrap="square">
            <a:spAutoFit/>
          </a:bodyPr>
          <a:lstStyle/>
          <a:p>
            <a:pPr algn="l">
              <a:spcAft>
                <a:spcPts val="400"/>
              </a:spcAft>
            </a:pPr>
            <a:r>
              <a:rPr sz="1300" b="1">
                <a:solidFill>
                  <a:srgbClr val="D98C1F"/>
                </a:solidFill>
                <a:latin typeface="Calibri"/>
              </a:rPr>
              <a:t>CONTEXT</a:t>
            </a:r>
          </a:p>
        </p:txBody>
      </p:sp>
      <p:sp>
        <p:nvSpPr>
          <p:cNvPr id="4" name="TextBox 3"/>
          <p:cNvSpPr txBox="1"/>
          <p:nvPr/>
        </p:nvSpPr>
        <p:spPr>
          <a:xfrm>
            <a:off x="548640" y="749808"/>
            <a:ext cx="10972800" cy="640080"/>
          </a:xfrm>
          <a:prstGeom prst="rect">
            <a:avLst/>
          </a:prstGeom>
          <a:noFill/>
        </p:spPr>
        <p:txBody>
          <a:bodyPr wrap="square">
            <a:spAutoFit/>
          </a:bodyPr>
          <a:lstStyle/>
          <a:p>
            <a:pPr algn="l">
              <a:spcAft>
                <a:spcPts val="400"/>
              </a:spcAft>
            </a:pPr>
            <a:r>
              <a:rPr sz="2700" b="1">
                <a:solidFill>
                  <a:srgbClr val="1C2A3A"/>
                </a:solidFill>
                <a:latin typeface="Calibri"/>
              </a:rPr>
              <a:t>The results you are about to see predate the base-year fix</a:t>
            </a:r>
          </a:p>
        </p:txBody>
      </p:sp>
      <p:sp>
        <p:nvSpPr>
          <p:cNvPr id="6" name="Rectangle 5"/>
          <p:cNvSpPr/>
          <p:nvPr/>
        </p:nvSpPr>
        <p:spPr>
          <a:xfrm>
            <a:off x="548640" y="6016752"/>
            <a:ext cx="11094415" cy="566928"/>
          </a:xfrm>
          <a:prstGeom prst="rect">
            <a:avLst/>
          </a:prstGeom>
          <a:solidFill>
            <a:srgbClr val="F4F1EC"/>
          </a:solidFill>
          <a:ln w="15875">
            <a:solidFill>
              <a:srgbClr val="D98C1F"/>
            </a:solidFill>
          </a:ln>
          <a:effectLst/>
        </p:spPr>
        <p:style>
          <a:lnRef idx="1">
            <a:schemeClr val="accent1"/>
          </a:lnRef>
          <a:fillRef idx="3">
            <a:schemeClr val="accent1"/>
          </a:fillRef>
          <a:effectRef idx="2">
            <a:schemeClr val="accent1"/>
          </a:effectRef>
          <a:fontRef idx="minor">
            <a:schemeClr val="lt1"/>
          </a:fontRef>
        </p:style>
        <p:txBody>
          <a:bodyPr wrap="square" lIns="164592" tIns="54864" rtlCol="0" anchor="ctr"/>
          <a:lstStyle/>
          <a:p>
            <a:pPr algn="ctr"/>
            <a:r>
              <a:rPr sz="1400" b="1">
                <a:solidFill>
                  <a:srgbClr val="1C2A3A"/>
                </a:solidFill>
                <a:latin typeface="Calibri"/>
              </a:rPr>
              <a:t>Flagged so the known gap is not re-diagnosed. Fixes are staged, not yet run.</a:t>
            </a:r>
          </a:p>
        </p:txBody>
      </p:sp>
      <p:pic>
        <p:nvPicPr>
          <p:cNvPr id="7" name="Picture 6" descr="F1_base_year.png">
            <a:extLst>
              <a:ext uri="{FF2B5EF4-FFF2-40B4-BE49-F238E27FC236}">
                <a16:creationId xmlns:a16="http://schemas.microsoft.com/office/drawing/2014/main" id="{9FDCDE6B-00DF-0F9C-02D2-4D608E77BFC1}"/>
              </a:ext>
            </a:extLst>
          </p:cNvPr>
          <p:cNvPicPr>
            <a:picLocks noChangeAspect="1"/>
          </p:cNvPicPr>
          <p:nvPr/>
        </p:nvPicPr>
        <p:blipFill>
          <a:blip r:embed="rId3"/>
          <a:stretch>
            <a:fillRect/>
          </a:stretch>
        </p:blipFill>
        <p:spPr>
          <a:xfrm>
            <a:off x="1920240" y="1389888"/>
            <a:ext cx="7936992" cy="429768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D59CA2-1C6B-9F6E-C860-9717F660C24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7965915-9BFD-A5A5-4FAA-23490C04AE06}"/>
              </a:ext>
            </a:extLst>
          </p:cNvPr>
          <p:cNvSpPr/>
          <p:nvPr/>
        </p:nvSpPr>
        <p:spPr>
          <a:xfrm>
            <a:off x="548640" y="384048"/>
            <a:ext cx="1371600" cy="34000"/>
          </a:xfrm>
          <a:prstGeom prst="rect">
            <a:avLst/>
          </a:prstGeom>
          <a:solidFill>
            <a:srgbClr val="D98C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2FF4CDB9-DD19-8F30-52E2-ACBB25BF2A7C}"/>
              </a:ext>
            </a:extLst>
          </p:cNvPr>
          <p:cNvSpPr txBox="1"/>
          <p:nvPr/>
        </p:nvSpPr>
        <p:spPr>
          <a:xfrm>
            <a:off x="548640" y="475488"/>
            <a:ext cx="10058400" cy="274320"/>
          </a:xfrm>
          <a:prstGeom prst="rect">
            <a:avLst/>
          </a:prstGeom>
          <a:noFill/>
        </p:spPr>
        <p:txBody>
          <a:bodyPr wrap="square">
            <a:spAutoFit/>
          </a:bodyPr>
          <a:lstStyle/>
          <a:p>
            <a:pPr algn="l">
              <a:spcAft>
                <a:spcPts val="400"/>
              </a:spcAft>
            </a:pPr>
            <a:r>
              <a:rPr sz="1300" b="1">
                <a:solidFill>
                  <a:srgbClr val="D98C1F"/>
                </a:solidFill>
                <a:latin typeface="Calibri"/>
              </a:rPr>
              <a:t>CONTEXT</a:t>
            </a:r>
          </a:p>
        </p:txBody>
      </p:sp>
      <p:pic>
        <p:nvPicPr>
          <p:cNvPr id="8" name="Picture 7">
            <a:extLst>
              <a:ext uri="{FF2B5EF4-FFF2-40B4-BE49-F238E27FC236}">
                <a16:creationId xmlns:a16="http://schemas.microsoft.com/office/drawing/2014/main" id="{5DAF83A7-C38E-74C3-716F-E4B4F56BB2AB}"/>
              </a:ext>
            </a:extLst>
          </p:cNvPr>
          <p:cNvPicPr>
            <a:picLocks noChangeAspect="1"/>
          </p:cNvPicPr>
          <p:nvPr/>
        </p:nvPicPr>
        <p:blipFill>
          <a:blip r:embed="rId3"/>
          <a:stretch>
            <a:fillRect/>
          </a:stretch>
        </p:blipFill>
        <p:spPr>
          <a:xfrm>
            <a:off x="1861229" y="475488"/>
            <a:ext cx="8175399" cy="6185240"/>
          </a:xfrm>
          <a:prstGeom prst="rect">
            <a:avLst/>
          </a:prstGeom>
        </p:spPr>
      </p:pic>
    </p:spTree>
    <p:extLst>
      <p:ext uri="{BB962C8B-B14F-4D97-AF65-F5344CB8AC3E}">
        <p14:creationId xmlns:p14="http://schemas.microsoft.com/office/powerpoint/2010/main" val="28030598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384048"/>
            <a:ext cx="1371600" cy="34000"/>
          </a:xfrm>
          <a:prstGeom prst="rect">
            <a:avLst/>
          </a:prstGeom>
          <a:solidFill>
            <a:srgbClr val="D98C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75488"/>
            <a:ext cx="10058400" cy="274320"/>
          </a:xfrm>
          <a:prstGeom prst="rect">
            <a:avLst/>
          </a:prstGeom>
          <a:noFill/>
        </p:spPr>
        <p:txBody>
          <a:bodyPr wrap="square">
            <a:spAutoFit/>
          </a:bodyPr>
          <a:lstStyle/>
          <a:p>
            <a:pPr algn="l">
              <a:spcAft>
                <a:spcPts val="400"/>
              </a:spcAft>
            </a:pPr>
            <a:r>
              <a:rPr sz="1300" b="1">
                <a:solidFill>
                  <a:srgbClr val="D98C1F"/>
                </a:solidFill>
                <a:latin typeface="Calibri"/>
              </a:rPr>
              <a:t>QUESTION 1  ·  HIGHEST PRIORITY</a:t>
            </a:r>
          </a:p>
        </p:txBody>
      </p:sp>
      <p:sp>
        <p:nvSpPr>
          <p:cNvPr id="4" name="TextBox 3"/>
          <p:cNvSpPr txBox="1"/>
          <p:nvPr/>
        </p:nvSpPr>
        <p:spPr>
          <a:xfrm>
            <a:off x="548640" y="749808"/>
            <a:ext cx="10972800" cy="640080"/>
          </a:xfrm>
          <a:prstGeom prst="rect">
            <a:avLst/>
          </a:prstGeom>
          <a:noFill/>
        </p:spPr>
        <p:txBody>
          <a:bodyPr wrap="square">
            <a:spAutoFit/>
          </a:bodyPr>
          <a:lstStyle/>
          <a:p>
            <a:pPr algn="l">
              <a:spcAft>
                <a:spcPts val="400"/>
              </a:spcAft>
            </a:pPr>
            <a:r>
              <a:rPr sz="2700" b="1">
                <a:solidFill>
                  <a:srgbClr val="1C2A3A"/>
                </a:solidFill>
                <a:latin typeface="Calibri"/>
              </a:rPr>
              <a:t>MaxNewCapacityConstraint is per-asset, so we cannot cap a national build rate</a:t>
            </a:r>
          </a:p>
        </p:txBody>
      </p:sp>
      <p:sp>
        <p:nvSpPr>
          <p:cNvPr id="6" name="Rectangle 5"/>
          <p:cNvSpPr/>
          <p:nvPr/>
        </p:nvSpPr>
        <p:spPr>
          <a:xfrm>
            <a:off x="548640" y="6016752"/>
            <a:ext cx="11094415" cy="566928"/>
          </a:xfrm>
          <a:prstGeom prst="rect">
            <a:avLst/>
          </a:prstGeom>
          <a:solidFill>
            <a:srgbClr val="F4F1EC"/>
          </a:solidFill>
          <a:ln w="15875">
            <a:solidFill>
              <a:srgbClr val="D98C1F"/>
            </a:solidFill>
          </a:ln>
          <a:effectLst/>
        </p:spPr>
        <p:style>
          <a:lnRef idx="1">
            <a:schemeClr val="accent1"/>
          </a:lnRef>
          <a:fillRef idx="3">
            <a:schemeClr val="accent1"/>
          </a:fillRef>
          <a:effectRef idx="2">
            <a:schemeClr val="accent1"/>
          </a:effectRef>
          <a:fontRef idx="minor">
            <a:schemeClr val="lt1"/>
          </a:fontRef>
        </p:style>
        <p:txBody>
          <a:bodyPr wrap="square" lIns="164592" tIns="54864" rtlCol="0" anchor="ctr"/>
          <a:lstStyle/>
          <a:p>
            <a:pPr algn="ctr"/>
            <a:r>
              <a:rPr sz="1400" b="1">
                <a:solidFill>
                  <a:srgbClr val="1C2A3A"/>
                </a:solidFill>
                <a:latin typeface="Calibri"/>
              </a:rPr>
              <a:t>We need ≤ 5 GW/yr nationally. The only lever is 6,000 MW per province per period. Is a grouped MaxNewCapacityConstraint available upstream?</a:t>
            </a:r>
          </a:p>
        </p:txBody>
      </p:sp>
      <p:pic>
        <p:nvPicPr>
          <p:cNvPr id="7" name="Picture 6" descr="F2_solar_cap.png">
            <a:extLst>
              <a:ext uri="{FF2B5EF4-FFF2-40B4-BE49-F238E27FC236}">
                <a16:creationId xmlns:a16="http://schemas.microsoft.com/office/drawing/2014/main" id="{1A9911C6-4597-9B99-6A4F-EC61A4DAF354}"/>
              </a:ext>
            </a:extLst>
          </p:cNvPr>
          <p:cNvPicPr>
            <a:picLocks noChangeAspect="1"/>
          </p:cNvPicPr>
          <p:nvPr/>
        </p:nvPicPr>
        <p:blipFill>
          <a:blip r:embed="rId3"/>
          <a:stretch>
            <a:fillRect/>
          </a:stretch>
        </p:blipFill>
        <p:spPr>
          <a:xfrm>
            <a:off x="1583778" y="1342654"/>
            <a:ext cx="9255797" cy="449674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384048"/>
            <a:ext cx="1371600" cy="34000"/>
          </a:xfrm>
          <a:prstGeom prst="rect">
            <a:avLst/>
          </a:prstGeom>
          <a:solidFill>
            <a:srgbClr val="D98C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75488"/>
            <a:ext cx="10058400" cy="274320"/>
          </a:xfrm>
          <a:prstGeom prst="rect">
            <a:avLst/>
          </a:prstGeom>
          <a:noFill/>
        </p:spPr>
        <p:txBody>
          <a:bodyPr wrap="square">
            <a:spAutoFit/>
          </a:bodyPr>
          <a:lstStyle/>
          <a:p>
            <a:pPr algn="l">
              <a:spcAft>
                <a:spcPts val="400"/>
              </a:spcAft>
            </a:pPr>
            <a:r>
              <a:rPr sz="1300" b="1">
                <a:solidFill>
                  <a:srgbClr val="D98C1F"/>
                </a:solidFill>
                <a:latin typeface="Calibri"/>
              </a:rPr>
              <a:t>QUESTION 2</a:t>
            </a:r>
          </a:p>
        </p:txBody>
      </p:sp>
      <p:sp>
        <p:nvSpPr>
          <p:cNvPr id="4" name="TextBox 3"/>
          <p:cNvSpPr txBox="1"/>
          <p:nvPr/>
        </p:nvSpPr>
        <p:spPr>
          <a:xfrm>
            <a:off x="548640" y="749808"/>
            <a:ext cx="10972800" cy="640080"/>
          </a:xfrm>
          <a:prstGeom prst="rect">
            <a:avLst/>
          </a:prstGeom>
          <a:noFill/>
        </p:spPr>
        <p:txBody>
          <a:bodyPr wrap="square">
            <a:spAutoFit/>
          </a:bodyPr>
          <a:lstStyle/>
          <a:p>
            <a:pPr algn="l">
              <a:spcAft>
                <a:spcPts val="400"/>
              </a:spcAft>
            </a:pPr>
            <a:r>
              <a:rPr sz="2700" b="1">
                <a:solidFill>
                  <a:srgbClr val="1C2A3A"/>
                </a:solidFill>
                <a:latin typeface="Calibri"/>
              </a:rPr>
              <a:t>MinFlowConstraint on all five thermal technologies ran us out of memory</a:t>
            </a:r>
          </a:p>
        </p:txBody>
      </p:sp>
      <p:sp>
        <p:nvSpPr>
          <p:cNvPr id="5" name="TextBox 4"/>
          <p:cNvSpPr txBox="1"/>
          <p:nvPr/>
        </p:nvSpPr>
        <p:spPr>
          <a:xfrm>
            <a:off x="640080" y="1828800"/>
            <a:ext cx="6766560" cy="411480"/>
          </a:xfrm>
          <a:prstGeom prst="rect">
            <a:avLst/>
          </a:prstGeom>
          <a:noFill/>
        </p:spPr>
        <p:txBody>
          <a:bodyPr wrap="square">
            <a:spAutoFit/>
          </a:bodyPr>
          <a:lstStyle/>
          <a:p>
            <a:pPr algn="l">
              <a:spcAft>
                <a:spcPts val="400"/>
              </a:spcAft>
            </a:pPr>
            <a:r>
              <a:rPr sz="1700" b="0">
                <a:solidFill>
                  <a:srgbClr val="6B7A8C"/>
                </a:solidFill>
                <a:latin typeface="Calibri"/>
              </a:rPr>
              <a:t>Rows, MinFlow on coal + gas CCGT only</a:t>
            </a:r>
          </a:p>
        </p:txBody>
      </p:sp>
      <p:sp>
        <p:nvSpPr>
          <p:cNvPr id="6" name="TextBox 5"/>
          <p:cNvSpPr txBox="1"/>
          <p:nvPr/>
        </p:nvSpPr>
        <p:spPr>
          <a:xfrm>
            <a:off x="7589520" y="1828800"/>
            <a:ext cx="4023360" cy="411480"/>
          </a:xfrm>
          <a:prstGeom prst="rect">
            <a:avLst/>
          </a:prstGeom>
          <a:noFill/>
        </p:spPr>
        <p:txBody>
          <a:bodyPr wrap="square">
            <a:spAutoFit/>
          </a:bodyPr>
          <a:lstStyle/>
          <a:p>
            <a:pPr algn="l">
              <a:spcAft>
                <a:spcPts val="400"/>
              </a:spcAft>
            </a:pPr>
            <a:r>
              <a:rPr sz="1700" b="1">
                <a:solidFill>
                  <a:srgbClr val="1C2A3A"/>
                </a:solidFill>
                <a:latin typeface="Calibri"/>
              </a:rPr>
              <a:t>13.60 M</a:t>
            </a:r>
          </a:p>
        </p:txBody>
      </p:sp>
      <p:sp>
        <p:nvSpPr>
          <p:cNvPr id="7" name="TextBox 6"/>
          <p:cNvSpPr txBox="1"/>
          <p:nvPr/>
        </p:nvSpPr>
        <p:spPr>
          <a:xfrm>
            <a:off x="640080" y="2487168"/>
            <a:ext cx="6766560" cy="411480"/>
          </a:xfrm>
          <a:prstGeom prst="rect">
            <a:avLst/>
          </a:prstGeom>
          <a:noFill/>
        </p:spPr>
        <p:txBody>
          <a:bodyPr wrap="square">
            <a:spAutoFit/>
          </a:bodyPr>
          <a:lstStyle/>
          <a:p>
            <a:pPr algn="l">
              <a:spcAft>
                <a:spcPts val="400"/>
              </a:spcAft>
            </a:pPr>
            <a:r>
              <a:rPr sz="1700" b="0">
                <a:solidFill>
                  <a:srgbClr val="6B7A8C"/>
                </a:solidFill>
                <a:latin typeface="Calibri"/>
              </a:rPr>
              <a:t>Rows, MinFlow on all five</a:t>
            </a:r>
          </a:p>
        </p:txBody>
      </p:sp>
      <p:sp>
        <p:nvSpPr>
          <p:cNvPr id="8" name="TextBox 7"/>
          <p:cNvSpPr txBox="1"/>
          <p:nvPr/>
        </p:nvSpPr>
        <p:spPr>
          <a:xfrm>
            <a:off x="7589520" y="2487168"/>
            <a:ext cx="4023360" cy="411480"/>
          </a:xfrm>
          <a:prstGeom prst="rect">
            <a:avLst/>
          </a:prstGeom>
          <a:noFill/>
        </p:spPr>
        <p:txBody>
          <a:bodyPr wrap="square">
            <a:spAutoFit/>
          </a:bodyPr>
          <a:lstStyle/>
          <a:p>
            <a:pPr algn="l">
              <a:spcAft>
                <a:spcPts val="400"/>
              </a:spcAft>
            </a:pPr>
            <a:r>
              <a:rPr sz="1700" b="1">
                <a:solidFill>
                  <a:srgbClr val="C0392B"/>
                </a:solidFill>
                <a:latin typeface="Calibri"/>
              </a:rPr>
              <a:t>14.05 M</a:t>
            </a:r>
          </a:p>
        </p:txBody>
      </p:sp>
      <p:sp>
        <p:nvSpPr>
          <p:cNvPr id="9" name="TextBox 8"/>
          <p:cNvSpPr txBox="1"/>
          <p:nvPr/>
        </p:nvSpPr>
        <p:spPr>
          <a:xfrm>
            <a:off x="640080" y="3145536"/>
            <a:ext cx="6766560" cy="411480"/>
          </a:xfrm>
          <a:prstGeom prst="rect">
            <a:avLst/>
          </a:prstGeom>
          <a:noFill/>
        </p:spPr>
        <p:txBody>
          <a:bodyPr wrap="square">
            <a:spAutoFit/>
          </a:bodyPr>
          <a:lstStyle/>
          <a:p>
            <a:pPr algn="l">
              <a:spcAft>
                <a:spcPts val="400"/>
              </a:spcAft>
            </a:pPr>
            <a:r>
              <a:rPr sz="1700" b="0">
                <a:solidFill>
                  <a:srgbClr val="6B7A8C"/>
                </a:solidFill>
                <a:latin typeface="Calibri"/>
              </a:rPr>
              <a:t>Added by three technologies</a:t>
            </a:r>
          </a:p>
        </p:txBody>
      </p:sp>
      <p:sp>
        <p:nvSpPr>
          <p:cNvPr id="10" name="TextBox 9"/>
          <p:cNvSpPr txBox="1"/>
          <p:nvPr/>
        </p:nvSpPr>
        <p:spPr>
          <a:xfrm>
            <a:off x="7589520" y="3145536"/>
            <a:ext cx="4023360" cy="411480"/>
          </a:xfrm>
          <a:prstGeom prst="rect">
            <a:avLst/>
          </a:prstGeom>
          <a:noFill/>
        </p:spPr>
        <p:txBody>
          <a:bodyPr wrap="square">
            <a:spAutoFit/>
          </a:bodyPr>
          <a:lstStyle/>
          <a:p>
            <a:pPr algn="l">
              <a:spcAft>
                <a:spcPts val="400"/>
              </a:spcAft>
            </a:pPr>
            <a:r>
              <a:rPr sz="1700" b="1">
                <a:solidFill>
                  <a:srgbClr val="C0392B"/>
                </a:solidFill>
                <a:latin typeface="Calibri"/>
              </a:rPr>
              <a:t>≈ 450,000 rows</a:t>
            </a:r>
          </a:p>
        </p:txBody>
      </p:sp>
      <p:sp>
        <p:nvSpPr>
          <p:cNvPr id="11" name="TextBox 10"/>
          <p:cNvSpPr txBox="1"/>
          <p:nvPr/>
        </p:nvSpPr>
        <p:spPr>
          <a:xfrm>
            <a:off x="640080" y="3803904"/>
            <a:ext cx="6766560" cy="411480"/>
          </a:xfrm>
          <a:prstGeom prst="rect">
            <a:avLst/>
          </a:prstGeom>
          <a:noFill/>
        </p:spPr>
        <p:txBody>
          <a:bodyPr wrap="square">
            <a:spAutoFit/>
          </a:bodyPr>
          <a:lstStyle/>
          <a:p>
            <a:pPr algn="l">
              <a:spcAft>
                <a:spcPts val="400"/>
              </a:spcAft>
            </a:pPr>
            <a:r>
              <a:rPr sz="1700" b="0">
                <a:solidFill>
                  <a:srgbClr val="6B7A8C"/>
                </a:solidFill>
                <a:latin typeface="Calibri"/>
              </a:rPr>
              <a:t>Outcome at 128 GB</a:t>
            </a:r>
          </a:p>
        </p:txBody>
      </p:sp>
      <p:sp>
        <p:nvSpPr>
          <p:cNvPr id="12" name="TextBox 11"/>
          <p:cNvSpPr txBox="1"/>
          <p:nvPr/>
        </p:nvSpPr>
        <p:spPr>
          <a:xfrm>
            <a:off x="7589520" y="3803904"/>
            <a:ext cx="4023360" cy="411480"/>
          </a:xfrm>
          <a:prstGeom prst="rect">
            <a:avLst/>
          </a:prstGeom>
          <a:noFill/>
        </p:spPr>
        <p:txBody>
          <a:bodyPr wrap="square">
            <a:spAutoFit/>
          </a:bodyPr>
          <a:lstStyle/>
          <a:p>
            <a:pPr algn="l">
              <a:spcAft>
                <a:spcPts val="400"/>
              </a:spcAft>
            </a:pPr>
            <a:r>
              <a:rPr sz="1700" b="1">
                <a:solidFill>
                  <a:srgbClr val="C0392B"/>
                </a:solidFill>
                <a:latin typeface="Calibri"/>
              </a:rPr>
              <a:t>killed — two jobs</a:t>
            </a:r>
          </a:p>
        </p:txBody>
      </p:sp>
      <p:sp>
        <p:nvSpPr>
          <p:cNvPr id="13" name="TextBox 12"/>
          <p:cNvSpPr txBox="1"/>
          <p:nvPr/>
        </p:nvSpPr>
        <p:spPr>
          <a:xfrm>
            <a:off x="640080" y="4462272"/>
            <a:ext cx="6766560" cy="411480"/>
          </a:xfrm>
          <a:prstGeom prst="rect">
            <a:avLst/>
          </a:prstGeom>
          <a:noFill/>
        </p:spPr>
        <p:txBody>
          <a:bodyPr wrap="square">
            <a:spAutoFit/>
          </a:bodyPr>
          <a:lstStyle/>
          <a:p>
            <a:pPr algn="l">
              <a:spcAft>
                <a:spcPts val="400"/>
              </a:spcAft>
            </a:pPr>
            <a:r>
              <a:rPr sz="1700" b="0">
                <a:solidFill>
                  <a:srgbClr val="6B7A8C"/>
                </a:solidFill>
                <a:latin typeface="Calibri"/>
              </a:rPr>
              <a:t>Current state</a:t>
            </a:r>
          </a:p>
        </p:txBody>
      </p:sp>
      <p:sp>
        <p:nvSpPr>
          <p:cNvPr id="14" name="TextBox 13"/>
          <p:cNvSpPr txBox="1"/>
          <p:nvPr/>
        </p:nvSpPr>
        <p:spPr>
          <a:xfrm>
            <a:off x="7589520" y="4462272"/>
            <a:ext cx="4023360" cy="411480"/>
          </a:xfrm>
          <a:prstGeom prst="rect">
            <a:avLst/>
          </a:prstGeom>
          <a:noFill/>
        </p:spPr>
        <p:txBody>
          <a:bodyPr wrap="square">
            <a:spAutoFit/>
          </a:bodyPr>
          <a:lstStyle/>
          <a:p>
            <a:pPr algn="l">
              <a:spcAft>
                <a:spcPts val="400"/>
              </a:spcAft>
            </a:pPr>
            <a:r>
              <a:rPr sz="1700" b="1">
                <a:solidFill>
                  <a:srgbClr val="D98C1F"/>
                </a:solidFill>
                <a:latin typeface="Calibri"/>
              </a:rPr>
              <a:t>off for nuclear, coal CCS, gas CCS; mem raised to 192 GB</a:t>
            </a:r>
          </a:p>
        </p:txBody>
      </p:sp>
      <p:sp>
        <p:nvSpPr>
          <p:cNvPr id="15" name="TextBox 14"/>
          <p:cNvSpPr txBox="1"/>
          <p:nvPr/>
        </p:nvSpPr>
        <p:spPr>
          <a:xfrm>
            <a:off x="640080" y="5257800"/>
            <a:ext cx="10972800" cy="914400"/>
          </a:xfrm>
          <a:prstGeom prst="rect">
            <a:avLst/>
          </a:prstGeom>
          <a:noFill/>
        </p:spPr>
        <p:txBody>
          <a:bodyPr wrap="square">
            <a:spAutoFit/>
          </a:bodyPr>
          <a:lstStyle/>
          <a:p>
            <a:pPr algn="l">
              <a:spcAft>
                <a:spcPts val="400"/>
              </a:spcAft>
            </a:pPr>
            <a:r>
              <a:rPr sz="1500" b="0">
                <a:solidFill>
                  <a:srgbClr val="6B7A8C"/>
                </a:solidFill>
                <a:latin typeface="Calibri"/>
              </a:rPr>
              <a:t>min_flow_fraction values are still in the CSVs for those three technologies but the constraint is not declared.</a:t>
            </a:r>
          </a:p>
        </p:txBody>
      </p:sp>
      <p:sp>
        <p:nvSpPr>
          <p:cNvPr id="16" name="Rectangle 15"/>
          <p:cNvSpPr/>
          <p:nvPr/>
        </p:nvSpPr>
        <p:spPr>
          <a:xfrm>
            <a:off x="548640" y="6016752"/>
            <a:ext cx="11094415" cy="566928"/>
          </a:xfrm>
          <a:prstGeom prst="rect">
            <a:avLst/>
          </a:prstGeom>
          <a:solidFill>
            <a:srgbClr val="F4F1EC"/>
          </a:solidFill>
          <a:ln w="15875">
            <a:solidFill>
              <a:srgbClr val="D98C1F"/>
            </a:solidFill>
          </a:ln>
          <a:effectLst/>
        </p:spPr>
        <p:style>
          <a:lnRef idx="1">
            <a:schemeClr val="accent1"/>
          </a:lnRef>
          <a:fillRef idx="3">
            <a:schemeClr val="accent1"/>
          </a:fillRef>
          <a:effectRef idx="2">
            <a:schemeClr val="accent1"/>
          </a:effectRef>
          <a:fontRef idx="minor">
            <a:schemeClr val="lt1"/>
          </a:fontRef>
        </p:style>
        <p:txBody>
          <a:bodyPr wrap="square" lIns="164592" tIns="54864" rtlCol="0" anchor="ctr"/>
          <a:lstStyle/>
          <a:p>
            <a:pPr algn="ctr"/>
            <a:r>
              <a:rPr sz="1400" b="1">
                <a:solidFill>
                  <a:srgbClr val="1C2A3A"/>
                </a:solidFill>
                <a:latin typeface="Calibri"/>
              </a:rPr>
              <a:t>Is that row growth expected? Is there a cheaper MinFlow formulation under relaxed UC — and are the undeclared min_flow_fraction values truly inert?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DAED64-628A-B7C9-0210-583DD8086A1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0C3C29C-188E-42D4-C231-0AD7FB99F425}"/>
              </a:ext>
            </a:extLst>
          </p:cNvPr>
          <p:cNvSpPr/>
          <p:nvPr/>
        </p:nvSpPr>
        <p:spPr>
          <a:xfrm>
            <a:off x="548640" y="384048"/>
            <a:ext cx="1371600" cy="34000"/>
          </a:xfrm>
          <a:prstGeom prst="rect">
            <a:avLst/>
          </a:prstGeom>
          <a:solidFill>
            <a:srgbClr val="D98C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B3579CAD-5EA3-0E87-73CB-0774409BBB58}"/>
              </a:ext>
            </a:extLst>
          </p:cNvPr>
          <p:cNvSpPr txBox="1"/>
          <p:nvPr/>
        </p:nvSpPr>
        <p:spPr>
          <a:xfrm>
            <a:off x="548640" y="475488"/>
            <a:ext cx="10058400" cy="274320"/>
          </a:xfrm>
          <a:prstGeom prst="rect">
            <a:avLst/>
          </a:prstGeom>
          <a:noFill/>
        </p:spPr>
        <p:txBody>
          <a:bodyPr wrap="square">
            <a:spAutoFit/>
          </a:bodyPr>
          <a:lstStyle/>
          <a:p>
            <a:pPr algn="l">
              <a:spcAft>
                <a:spcPts val="400"/>
              </a:spcAft>
            </a:pPr>
            <a:r>
              <a:rPr sz="1300" b="1">
                <a:solidFill>
                  <a:srgbClr val="D98C1F"/>
                </a:solidFill>
                <a:latin typeface="Calibri"/>
              </a:rPr>
              <a:t>QUESTION 2</a:t>
            </a:r>
          </a:p>
        </p:txBody>
      </p:sp>
      <p:sp>
        <p:nvSpPr>
          <p:cNvPr id="4" name="TextBox 3">
            <a:extLst>
              <a:ext uri="{FF2B5EF4-FFF2-40B4-BE49-F238E27FC236}">
                <a16:creationId xmlns:a16="http://schemas.microsoft.com/office/drawing/2014/main" id="{D7C67B63-1BCC-57D5-6EAD-0481ADC14AC4}"/>
              </a:ext>
            </a:extLst>
          </p:cNvPr>
          <p:cNvSpPr txBox="1"/>
          <p:nvPr/>
        </p:nvSpPr>
        <p:spPr>
          <a:xfrm>
            <a:off x="548640" y="749808"/>
            <a:ext cx="10972800" cy="507831"/>
          </a:xfrm>
          <a:prstGeom prst="rect">
            <a:avLst/>
          </a:prstGeom>
          <a:noFill/>
        </p:spPr>
        <p:txBody>
          <a:bodyPr wrap="square">
            <a:spAutoFit/>
          </a:bodyPr>
          <a:lstStyle/>
          <a:p>
            <a:pPr algn="l">
              <a:spcAft>
                <a:spcPts val="400"/>
              </a:spcAft>
            </a:pPr>
            <a:r>
              <a:rPr lang="en-US" sz="2700" b="1" dirty="0">
                <a:solidFill>
                  <a:srgbClr val="1C2A3A"/>
                </a:solidFill>
                <a:latin typeface="Calibri"/>
              </a:rPr>
              <a:t>Nuclear </a:t>
            </a:r>
            <a:endParaRPr sz="2700" b="1" dirty="0">
              <a:solidFill>
                <a:srgbClr val="1C2A3A"/>
              </a:solidFill>
              <a:latin typeface="Calibri"/>
            </a:endParaRPr>
          </a:p>
        </p:txBody>
      </p:sp>
      <p:pic>
        <p:nvPicPr>
          <p:cNvPr id="17" name="Picture 16">
            <a:extLst>
              <a:ext uri="{FF2B5EF4-FFF2-40B4-BE49-F238E27FC236}">
                <a16:creationId xmlns:a16="http://schemas.microsoft.com/office/drawing/2014/main" id="{FE3A91E8-8DB3-7711-B46D-8C0997F91F9C}"/>
              </a:ext>
            </a:extLst>
          </p:cNvPr>
          <p:cNvPicPr>
            <a:picLocks noChangeAspect="1"/>
          </p:cNvPicPr>
          <p:nvPr/>
        </p:nvPicPr>
        <p:blipFill>
          <a:blip r:embed="rId3"/>
          <a:stretch>
            <a:fillRect/>
          </a:stretch>
        </p:blipFill>
        <p:spPr>
          <a:xfrm>
            <a:off x="293973" y="1803190"/>
            <a:ext cx="11604054" cy="4305002"/>
          </a:xfrm>
          <a:prstGeom prst="rect">
            <a:avLst/>
          </a:prstGeom>
        </p:spPr>
      </p:pic>
    </p:spTree>
    <p:extLst>
      <p:ext uri="{BB962C8B-B14F-4D97-AF65-F5344CB8AC3E}">
        <p14:creationId xmlns:p14="http://schemas.microsoft.com/office/powerpoint/2010/main" val="32813286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384048"/>
            <a:ext cx="1371600" cy="34000"/>
          </a:xfrm>
          <a:prstGeom prst="rect">
            <a:avLst/>
          </a:prstGeom>
          <a:solidFill>
            <a:srgbClr val="D98C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75488"/>
            <a:ext cx="10058400" cy="274320"/>
          </a:xfrm>
          <a:prstGeom prst="rect">
            <a:avLst/>
          </a:prstGeom>
          <a:noFill/>
        </p:spPr>
        <p:txBody>
          <a:bodyPr wrap="square">
            <a:spAutoFit/>
          </a:bodyPr>
          <a:lstStyle/>
          <a:p>
            <a:pPr algn="l">
              <a:spcAft>
                <a:spcPts val="400"/>
              </a:spcAft>
            </a:pPr>
            <a:r>
              <a:rPr sz="1300" b="1">
                <a:solidFill>
                  <a:srgbClr val="D98C1F"/>
                </a:solidFill>
                <a:latin typeface="Calibri"/>
              </a:rPr>
              <a:t>QUESTION 3</a:t>
            </a:r>
          </a:p>
        </p:txBody>
      </p:sp>
      <p:sp>
        <p:nvSpPr>
          <p:cNvPr id="4" name="TextBox 3"/>
          <p:cNvSpPr txBox="1"/>
          <p:nvPr/>
        </p:nvSpPr>
        <p:spPr>
          <a:xfrm>
            <a:off x="548640" y="749808"/>
            <a:ext cx="10972800" cy="640080"/>
          </a:xfrm>
          <a:prstGeom prst="rect">
            <a:avLst/>
          </a:prstGeom>
          <a:noFill/>
        </p:spPr>
        <p:txBody>
          <a:bodyPr wrap="square">
            <a:spAutoFit/>
          </a:bodyPr>
          <a:lstStyle/>
          <a:p>
            <a:pPr algn="l">
              <a:spcAft>
                <a:spcPts val="400"/>
              </a:spcAft>
            </a:pPr>
            <a:r>
              <a:rPr sz="2700" b="1">
                <a:solidFill>
                  <a:srgbClr val="1C2A3A"/>
                </a:solidFill>
                <a:latin typeface="Calibri"/>
              </a:rPr>
              <a:t>Nuclear is completely rigid, and the carbon price absorbs the consequence</a:t>
            </a:r>
          </a:p>
        </p:txBody>
      </p:sp>
      <p:sp>
        <p:nvSpPr>
          <p:cNvPr id="6" name="Rectangle 5"/>
          <p:cNvSpPr/>
          <p:nvPr/>
        </p:nvSpPr>
        <p:spPr>
          <a:xfrm>
            <a:off x="548640" y="6016752"/>
            <a:ext cx="11094415" cy="566928"/>
          </a:xfrm>
          <a:prstGeom prst="rect">
            <a:avLst/>
          </a:prstGeom>
          <a:solidFill>
            <a:srgbClr val="F4F1EC"/>
          </a:solidFill>
          <a:ln w="15875">
            <a:solidFill>
              <a:srgbClr val="D98C1F"/>
            </a:solidFill>
          </a:ln>
          <a:effectLst/>
        </p:spPr>
        <p:style>
          <a:lnRef idx="1">
            <a:schemeClr val="accent1"/>
          </a:lnRef>
          <a:fillRef idx="3">
            <a:schemeClr val="accent1"/>
          </a:fillRef>
          <a:effectRef idx="2">
            <a:schemeClr val="accent1"/>
          </a:effectRef>
          <a:fontRef idx="minor">
            <a:schemeClr val="lt1"/>
          </a:fontRef>
        </p:style>
        <p:txBody>
          <a:bodyPr wrap="square" lIns="164592" tIns="54864" rtlCol="0" anchor="ctr"/>
          <a:lstStyle/>
          <a:p>
            <a:pPr algn="ctr"/>
            <a:r>
              <a:rPr sz="1400" b="1">
                <a:solidFill>
                  <a:srgbClr val="1C2A3A"/>
                </a:solidFill>
                <a:latin typeface="Calibri"/>
              </a:rPr>
              <a:t>What is the idiomatic way to represent near-baseload nuclear in MACRO? Drop MustRun for a low min_flow_fraction instead?</a:t>
            </a:r>
          </a:p>
        </p:txBody>
      </p:sp>
      <p:pic>
        <p:nvPicPr>
          <p:cNvPr id="9" name="Picture 8" descr="F3_nuclear_co2.png">
            <a:extLst>
              <a:ext uri="{FF2B5EF4-FFF2-40B4-BE49-F238E27FC236}">
                <a16:creationId xmlns:a16="http://schemas.microsoft.com/office/drawing/2014/main" id="{BE5E609B-4B5F-126E-8C0C-A6095014DFDE}"/>
              </a:ext>
            </a:extLst>
          </p:cNvPr>
          <p:cNvPicPr>
            <a:picLocks noChangeAspect="1"/>
          </p:cNvPicPr>
          <p:nvPr/>
        </p:nvPicPr>
        <p:blipFill>
          <a:blip r:embed="rId3"/>
          <a:stretch>
            <a:fillRect/>
          </a:stretch>
        </p:blipFill>
        <p:spPr>
          <a:xfrm>
            <a:off x="548640" y="1572768"/>
            <a:ext cx="11094415" cy="399168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142</TotalTime>
  <Words>1494</Words>
  <Application>Microsoft Macintosh PowerPoint</Application>
  <PresentationFormat>Widescreen</PresentationFormat>
  <Paragraphs>122</Paragraphs>
  <Slides>9</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Hanwoong Kim</cp:lastModifiedBy>
  <cp:revision>11</cp:revision>
  <dcterms:created xsi:type="dcterms:W3CDTF">2013-01-27T09:14:16Z</dcterms:created>
  <dcterms:modified xsi:type="dcterms:W3CDTF">2026-10-19T21:14:43Z</dcterms:modified>
  <cp:category/>
</cp:coreProperties>
</file>