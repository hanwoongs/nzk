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7" r:id="rId3"/>
    <p:sldId id="257" r:id="rId4"/>
    <p:sldId id="258" r:id="rId5"/>
    <p:sldId id="266" r:id="rId6"/>
    <p:sldId id="259" r:id="rId7"/>
    <p:sldId id="260" r:id="rId8"/>
    <p:sldId id="268" r:id="rId9"/>
    <p:sldId id="261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65"/>
    <p:restoredTop sz="59679"/>
  </p:normalViewPr>
  <p:slideViewPr>
    <p:cSldViewPr snapToGrid="0" snapToObjects="1">
      <p:cViewPr>
        <p:scale>
          <a:sx n="158" d="100"/>
          <a:sy n="158" d="100"/>
        </p:scale>
        <p:origin x="3200" y="144"/>
      </p:cViewPr>
      <p:guideLst>
        <p:guide orient="horz" pos="2160"/>
        <p:guide pos="2880"/>
      </p:guideLst>
    </p:cSldViewPr>
  </p:slideViewPr>
  <p:notesTextViewPr>
    <p:cViewPr>
      <p:scale>
        <a:sx n="240" d="100"/>
        <a:sy n="24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466E4-EB96-4C42-9D6C-1D0FD1044612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DD29B-16C2-0541-863F-EF6211F8C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22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things. We'll start with where the base year stands, because there's a known gap and I want to flag it before you see any numbers. </a:t>
            </a:r>
          </a:p>
          <a:p>
            <a:endParaRPr lang="en-US" dirty="0"/>
          </a:p>
          <a:p>
            <a:r>
              <a:rPr lang="en-US" dirty="0"/>
              <a:t>Then capacity and generation for both scenarios so you have the picture. </a:t>
            </a:r>
          </a:p>
          <a:p>
            <a:endParaRPr lang="en-US" dirty="0"/>
          </a:p>
          <a:p>
            <a:r>
              <a:rPr lang="en-US" dirty="0"/>
              <a:t>Then three questions: the renewable build rate, the unit commitment parameters, and the carbon price.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DD29B-16C2-0541-863F-EF6211F8CD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357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Structurally we're complete. Seven periods, 8,760 chronological hours, linearly relaxed unit commitment, myopic, </a:t>
            </a:r>
            <a:r>
              <a:rPr lang="en-US" dirty="0" err="1"/>
              <a:t>Gurobi</a:t>
            </a:r>
            <a:r>
              <a:rPr lang="en-US" dirty="0"/>
              <a:t> barrier. About 13.6 million rows. Ref solves in two and a half hours, NDC in four and a half, on 24 cores.</a:t>
            </a:r>
          </a:p>
          <a:p>
            <a:endParaRPr lang="en-US" dirty="0"/>
          </a:p>
          <a:p>
            <a:r>
              <a:rPr lang="en-US" dirty="0"/>
              <a:t>Transmission is in good shape. We built a 99 gigawatt inter-province network from NREL interface transfer limits, calibrated to the KPX metro import limit, and it now expands — which it never did before.</a:t>
            </a:r>
          </a:p>
          <a:p>
            <a:endParaRPr lang="en-US" dirty="0"/>
          </a:p>
          <a:p>
            <a:r>
              <a:rPr lang="en-US" dirty="0"/>
              <a:t>The base year is not calibrated. We can check about this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DD29B-16C2-0541-863F-EF6211F8CD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860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that gap. Coal and gas are inverted.</a:t>
            </a:r>
          </a:p>
          <a:p>
            <a:endParaRPr lang="en-US" dirty="0"/>
          </a:p>
          <a:p>
            <a:r>
              <a:rPr lang="en-US" dirty="0"/>
              <a:t>The cause is simple: coal and gas carried no availability field at all, so both defaulted to 1.0 — available every hour of the year, no maintenance, no outages, no seasonal curtailment. Coal is half the variable cost of gas, so nothing stopped it running at a 95% capacity factor and taking gas's work.</a:t>
            </a:r>
          </a:p>
          <a:p>
            <a:endParaRPr lang="en-US" dirty="0"/>
          </a:p>
          <a:p>
            <a:r>
              <a:rPr lang="en-US" dirty="0"/>
              <a:t>Three fixes are staged. Coal availability at 0.65, nuclear from 0.85 down to 0.78, and blocking a gas retirement the model was making in the calibration year itself. I'm flagging this so we don't spend the meeting re-diagnosing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DD29B-16C2-0541-863F-EF6211F8CD5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877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We capped each province at 6 GW per five-year period. The national total came out at 6 GW per year. Same number, but one is a per-province input and the other is a national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DD29B-16C2-0541-863F-EF6211F8CD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79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Nuclear is held at a fixed 85% in every hour of every year — </a:t>
            </a:r>
            <a:r>
              <a:rPr lang="en-US" dirty="0" err="1"/>
              <a:t>MustRun</a:t>
            </a:r>
            <a:r>
              <a:rPr lang="en-US" dirty="0"/>
              <a:t> makes it an equality, not a floor. It can't move when solar floods the grid, so the model curtails 51 terawatt-hours and the carbon price goes to several thousand dollars. Korea actually curtails nuclear today and KHNP is targeting a 50% minimum by the 2030s, so we're modelling it as less flexible than it already is. We'll replace </a:t>
            </a:r>
            <a:r>
              <a:rPr lang="en-US" dirty="0" err="1"/>
              <a:t>MustRun</a:t>
            </a:r>
            <a:r>
              <a:rPr lang="en-US" dirty="0"/>
              <a:t> with a declining minimum-output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5DD29B-16C2-0541-863F-EF6211F8CD5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621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057400"/>
            <a:ext cx="2011680" cy="52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C2A3A"/>
                </a:solidFill>
                <a:latin typeface="Calibri"/>
              </a:rPr>
              <a:t>MACRO-Korea: open technical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6B7A8C"/>
                </a:solidFill>
                <a:latin typeface="Calibri"/>
              </a:rPr>
              <a:t>Provincial power-sector model · 17 provinces · 8,760 chronological hours · 2021–2050 myopic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C7475-9997-8A75-F5E9-A2914F4F9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F0E74F-C2B0-B3E6-7188-443427D11EDF}"/>
              </a:ext>
            </a:extLst>
          </p:cNvPr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BB4F4-AD23-8097-462F-C48BEA3290EA}"/>
              </a:ext>
            </a:extLst>
          </p:cNvPr>
          <p:cNvSpPr txBox="1"/>
          <p:nvPr/>
        </p:nvSpPr>
        <p:spPr>
          <a:xfrm>
            <a:off x="548640" y="41804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2800" b="1" dirty="0">
                <a:solidFill>
                  <a:srgbClr val="1C2A3A"/>
                </a:solidFill>
                <a:latin typeface="Calibri"/>
              </a:rPr>
              <a:t>Agenda</a:t>
            </a:r>
            <a:endParaRPr sz="2800" b="1" dirty="0">
              <a:solidFill>
                <a:srgbClr val="1C2A3A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89283B-D5A8-378E-29BD-6405E5C360EE}"/>
              </a:ext>
            </a:extLst>
          </p:cNvPr>
          <p:cNvSpPr txBox="1"/>
          <p:nvPr/>
        </p:nvSpPr>
        <p:spPr>
          <a:xfrm>
            <a:off x="548640" y="1029681"/>
            <a:ext cx="10898810" cy="3071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1C2A3A"/>
                </a:solidFill>
                <a:latin typeface="Calibri"/>
              </a:rPr>
              <a:t>2021 Calibration issue - after changed the transmission </a:t>
            </a:r>
          </a:p>
          <a:p>
            <a:pPr marL="285750" indent="-285750" algn="l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1C2A3A"/>
                </a:solidFill>
                <a:latin typeface="Calibri"/>
              </a:rPr>
              <a:t>Capacity expansion and generation by tech</a:t>
            </a:r>
            <a:r>
              <a:rPr lang="ko-KR" altLang="en-US" sz="2000" b="0" dirty="0">
                <a:solidFill>
                  <a:srgbClr val="1C2A3A"/>
                </a:solidFill>
                <a:latin typeface="Calibri"/>
              </a:rPr>
              <a:t> </a:t>
            </a:r>
            <a:r>
              <a:rPr lang="en-US" altLang="ko-KR" sz="2000" b="0" dirty="0">
                <a:solidFill>
                  <a:srgbClr val="1C2A3A"/>
                </a:solidFill>
                <a:latin typeface="Calibri"/>
              </a:rPr>
              <a:t>(</a:t>
            </a:r>
            <a:r>
              <a:rPr lang="en-US" altLang="ko-KR" sz="2000" dirty="0">
                <a:solidFill>
                  <a:srgbClr val="1C2A3A"/>
                </a:solidFill>
                <a:latin typeface="Calibri"/>
              </a:rPr>
              <a:t>Ref vs NDC)</a:t>
            </a:r>
            <a:r>
              <a:rPr lang="en-US" sz="2000" b="0" dirty="0">
                <a:solidFill>
                  <a:srgbClr val="1C2A3A"/>
                </a:solidFill>
                <a:latin typeface="Calibri"/>
              </a:rPr>
              <a:t> – diagnosis </a:t>
            </a:r>
          </a:p>
          <a:p>
            <a:pPr marL="285750" indent="-285750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1C2A3A"/>
                </a:solidFill>
                <a:latin typeface="Calibri"/>
              </a:rPr>
              <a:t>Renewable energy expansion </a:t>
            </a:r>
            <a:r>
              <a:rPr lang="en-US" sz="2000" dirty="0">
                <a:solidFill>
                  <a:srgbClr val="1C2A3A"/>
                </a:solidFill>
              </a:rPr>
              <a:t>rate -  Can we limit a national build rate?</a:t>
            </a:r>
            <a:endParaRPr lang="en-US" sz="2000" b="0" dirty="0">
              <a:solidFill>
                <a:srgbClr val="1C2A3A"/>
              </a:solidFill>
              <a:latin typeface="Calibri"/>
            </a:endParaRPr>
          </a:p>
          <a:p>
            <a:pPr marL="285750" indent="-285750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2A3A"/>
                </a:solidFill>
                <a:latin typeface="Calibri"/>
              </a:rPr>
              <a:t>Unit commitment parameter </a:t>
            </a:r>
            <a:r>
              <a:rPr lang="en-US" sz="2000" dirty="0">
                <a:solidFill>
                  <a:srgbClr val="1C2A3A"/>
                </a:solidFill>
              </a:rPr>
              <a:t>- How should nuclear and </a:t>
            </a:r>
            <a:r>
              <a:rPr lang="en-US" sz="2000" dirty="0" err="1">
                <a:solidFill>
                  <a:srgbClr val="1C2A3A"/>
                </a:solidFill>
              </a:rPr>
              <a:t>MinFlow</a:t>
            </a:r>
            <a:r>
              <a:rPr lang="en-US" sz="2000" dirty="0">
                <a:solidFill>
                  <a:srgbClr val="1C2A3A"/>
                </a:solidFill>
              </a:rPr>
              <a:t> be configured?</a:t>
            </a:r>
            <a:endParaRPr lang="en-US" sz="2000" dirty="0">
              <a:solidFill>
                <a:srgbClr val="1C2A3A"/>
              </a:solidFill>
              <a:latin typeface="Calibri"/>
            </a:endParaRPr>
          </a:p>
          <a:p>
            <a:pPr marL="285750" indent="-285750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2A3A"/>
                </a:solidFill>
                <a:latin typeface="Calibri"/>
              </a:rPr>
              <a:t>Carbon </a:t>
            </a:r>
            <a:r>
              <a:rPr lang="en-US" sz="2000" dirty="0">
                <a:solidFill>
                  <a:srgbClr val="1C2A3A"/>
                </a:solidFill>
              </a:rPr>
              <a:t>price (related to nuclear) - Is the carbon price real?</a:t>
            </a:r>
            <a:endParaRPr lang="en-US" sz="2000" dirty="0">
              <a:solidFill>
                <a:srgbClr val="1C2A3A"/>
              </a:solidFill>
              <a:latin typeface="Calibri"/>
            </a:endParaRPr>
          </a:p>
          <a:p>
            <a:pPr marL="285750" indent="-285750" algn="l">
              <a:lnSpc>
                <a:spcPct val="15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1C2A3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5801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Where the model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6B7A8C"/>
                </a:solidFill>
                <a:latin typeface="Calibri"/>
              </a:rPr>
              <a:t>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691640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1C2A3A"/>
                </a:solidFill>
                <a:latin typeface="Calibri"/>
              </a:rPr>
              <a:t>Complete. 7 periods, 8,760 h, linear-relaxed UC, myopic, Gurobi barrier.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414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6B7A8C"/>
                </a:solidFill>
                <a:latin typeface="Calibri"/>
              </a:rPr>
              <a:t>Solve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441448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1C2A3A"/>
                </a:solidFill>
                <a:latin typeface="Calibri"/>
              </a:rPr>
              <a:t>Ref 2.5 h · NDC 4.6 h on 24 cores / 192 GB. ~13.6M rows.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912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6B7A8C"/>
                </a:solidFill>
                <a:latin typeface="Calibri"/>
              </a:rPr>
              <a:t>Transmission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191256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1C2A3A"/>
                </a:solidFill>
                <a:latin typeface="Calibri"/>
              </a:rPr>
              <a:t>99.1 GW network from NREL ITLs, calibrated to the KPX metro limit. Expands.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410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6B7A8C"/>
                </a:solidFill>
                <a:latin typeface="Calibri"/>
              </a:rPr>
              <a:t>Base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941064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C0392B"/>
                </a:solidFill>
                <a:latin typeface="Calibri"/>
              </a:rPr>
              <a:t>NOT calibrated. Coal 300 TWh vs 198 observed; gas 58 vs 167.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90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rgbClr val="6B7A8C"/>
                </a:solidFill>
                <a:latin typeface="Calibri"/>
              </a:rPr>
              <a:t>Staged fixes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690872"/>
            <a:ext cx="85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0">
                <a:solidFill>
                  <a:srgbClr val="D98C1F"/>
                </a:solidFill>
                <a:latin typeface="Calibri"/>
              </a:rPr>
              <a:t>Coal availability 0.65 · nuclear 0.85→0.78 · 2021 gas retirement blocked.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The results you are about to see predate the base-year fix</a:t>
            </a:r>
          </a:p>
        </p:txBody>
      </p:sp>
      <p:pic>
        <p:nvPicPr>
          <p:cNvPr id="5" name="Picture 4" descr="F1_base_year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127351" y="1600200"/>
            <a:ext cx="7936992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016752"/>
            <a:ext cx="11094415" cy="566928"/>
          </a:xfrm>
          <a:prstGeom prst="rect">
            <a:avLst/>
          </a:prstGeom>
          <a:solidFill>
            <a:srgbClr val="F4F1EC"/>
          </a:solidFill>
          <a:ln w="15875">
            <a:solidFill>
              <a:srgbClr val="D98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tlCol="0" anchor="ctr"/>
          <a:lstStyle/>
          <a:p>
            <a:pPr algn="ctr"/>
            <a:r>
              <a:rPr sz="1400" b="1">
                <a:solidFill>
                  <a:srgbClr val="1C2A3A"/>
                </a:solidFill>
                <a:latin typeface="Calibri"/>
              </a:rPr>
              <a:t>Flagged so the known gap is not re-diagnosed. Fixes are staged, not yet run.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59CA2-1C6B-9F6E-C860-9717F660C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965915-9BFD-A5A5-4FAA-23490C04AE06}"/>
              </a:ext>
            </a:extLst>
          </p:cNvPr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F4CDB9-DD19-8F30-52E2-ACBB25BF2A7C}"/>
              </a:ext>
            </a:extLst>
          </p:cNvPr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CONTEXT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AF83A7-C38E-74C3-716F-E4B4F56BB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229" y="475488"/>
            <a:ext cx="8175399" cy="618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059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QUESTION 1  ·  HIGHEST PRIORITY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MaxNewCapacityConstraint is per-asset, so we cannot cap a national build rate</a:t>
            </a:r>
          </a:p>
        </p:txBody>
      </p:sp>
      <p:pic>
        <p:nvPicPr>
          <p:cNvPr id="5" name="Picture 4" descr="F2_solar_cap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583778" y="1342654"/>
            <a:ext cx="9255797" cy="44967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016752"/>
            <a:ext cx="11094415" cy="566928"/>
          </a:xfrm>
          <a:prstGeom prst="rect">
            <a:avLst/>
          </a:prstGeom>
          <a:solidFill>
            <a:srgbClr val="F4F1EC"/>
          </a:solidFill>
          <a:ln w="15875">
            <a:solidFill>
              <a:srgbClr val="D98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tlCol="0" anchor="ctr"/>
          <a:lstStyle/>
          <a:p>
            <a:pPr algn="ctr"/>
            <a:r>
              <a:rPr sz="1400" b="1">
                <a:solidFill>
                  <a:srgbClr val="1C2A3A"/>
                </a:solidFill>
                <a:latin typeface="Calibri"/>
              </a:rPr>
              <a:t>We need ≤ 5 GW/yr nationally. The only lever is 6,000 MW per province per period. Is a grouped MaxNewCapacityConstraint available upstream?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MinFlowConstraint on all five thermal technologies ran us out of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A8C"/>
                </a:solidFill>
                <a:latin typeface="Calibri"/>
              </a:rPr>
              <a:t>Rows, MinFlow on coal + gas CCGT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8288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C2A3A"/>
                </a:solidFill>
                <a:latin typeface="Calibri"/>
              </a:rPr>
              <a:t>13.60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87168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A8C"/>
                </a:solidFill>
                <a:latin typeface="Calibri"/>
              </a:rPr>
              <a:t>Rows, MinFlow on all five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48716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14.05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45536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A8C"/>
                </a:solidFill>
                <a:latin typeface="Calibri"/>
              </a:rPr>
              <a:t>Added by three technologies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14553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≈ 450,000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03904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A8C"/>
                </a:solidFill>
                <a:latin typeface="Calibri"/>
              </a:rPr>
              <a:t>Outcome at 128 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803904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killed — two jobs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62272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6B7A8C"/>
                </a:solidFill>
                <a:latin typeface="Calibri"/>
              </a:rPr>
              <a:t>Current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46227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98C1F"/>
                </a:solidFill>
                <a:latin typeface="Calibri"/>
              </a:rPr>
              <a:t>off for nuclear, coal CCS, gas CCS; mem raised to 192 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57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A8C"/>
                </a:solidFill>
                <a:latin typeface="Calibri"/>
              </a:rPr>
              <a:t>min_flow_fraction values are still in the CSVs for those three technologies but the constraint is not declared.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016752"/>
            <a:ext cx="11094415" cy="566928"/>
          </a:xfrm>
          <a:prstGeom prst="rect">
            <a:avLst/>
          </a:prstGeom>
          <a:solidFill>
            <a:srgbClr val="F4F1EC"/>
          </a:solidFill>
          <a:ln w="15875">
            <a:solidFill>
              <a:srgbClr val="D98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tlCol="0" anchor="ctr"/>
          <a:lstStyle/>
          <a:p>
            <a:pPr algn="ctr"/>
            <a:r>
              <a:rPr sz="1400" b="1">
                <a:solidFill>
                  <a:srgbClr val="1C2A3A"/>
                </a:solidFill>
                <a:latin typeface="Calibri"/>
              </a:rPr>
              <a:t>Is that row growth expected? Is there a cheaper MinFlow formulation under relaxed UC — and are the undeclared min_flow_fraction values truly inert?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AED64-628A-B7C9-0210-583DD8086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C3C29C-188E-42D4-C231-0AD7FB99F425}"/>
              </a:ext>
            </a:extLst>
          </p:cNvPr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579CAD-5EA3-0E87-73CB-0774409BBB58}"/>
              </a:ext>
            </a:extLst>
          </p:cNvPr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QUESTION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C67B63-1BCC-57D5-6EAD-0481ADC14AC4}"/>
              </a:ext>
            </a:extLst>
          </p:cNvPr>
          <p:cNvSpPr txBox="1"/>
          <p:nvPr/>
        </p:nvSpPr>
        <p:spPr>
          <a:xfrm>
            <a:off x="548640" y="749808"/>
            <a:ext cx="109728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2700" b="1" dirty="0">
                <a:solidFill>
                  <a:srgbClr val="1C2A3A"/>
                </a:solidFill>
                <a:latin typeface="Calibri"/>
              </a:rPr>
              <a:t>Nuclear </a:t>
            </a:r>
            <a:endParaRPr sz="2700" b="1" dirty="0">
              <a:solidFill>
                <a:srgbClr val="1C2A3A"/>
              </a:solidFill>
              <a:latin typeface="Calibri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E3A91E8-8DB3-7711-B46D-8C0997F91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73" y="1803190"/>
            <a:ext cx="11604054" cy="430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328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Nuclear is completely rigid, and the carbon price absorbs the consequence</a:t>
            </a:r>
          </a:p>
        </p:txBody>
      </p:sp>
      <p:pic>
        <p:nvPicPr>
          <p:cNvPr id="5" name="Picture 4" descr="F3_nuclear_co2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48640" y="1572768"/>
            <a:ext cx="11094415" cy="39916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016752"/>
            <a:ext cx="11094415" cy="566928"/>
          </a:xfrm>
          <a:prstGeom prst="rect">
            <a:avLst/>
          </a:prstGeom>
          <a:solidFill>
            <a:srgbClr val="F4F1EC"/>
          </a:solidFill>
          <a:ln w="15875">
            <a:solidFill>
              <a:srgbClr val="D98C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tlCol="0" anchor="ctr"/>
          <a:lstStyle/>
          <a:p>
            <a:pPr algn="ctr"/>
            <a:r>
              <a:rPr sz="1400" b="1">
                <a:solidFill>
                  <a:srgbClr val="1C2A3A"/>
                </a:solidFill>
                <a:latin typeface="Calibri"/>
              </a:rPr>
              <a:t>What is the idiomatic way to represent near-baseload nuclear in MACRO? Drop MustRun for a low min_flow_fraction instead?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84048"/>
            <a:ext cx="1371600" cy="34000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8C1F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C2A3A"/>
                </a:solidFill>
                <a:latin typeface="Calibri"/>
              </a:rPr>
              <a:t>What we are asking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0392B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C2A3A"/>
                </a:solidFill>
                <a:latin typeface="Calibri"/>
              </a:rPr>
              <a:t>Grouped MaxNewCapacityConstraint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737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A8C"/>
                </a:solidFill>
                <a:latin typeface="Calibri"/>
              </a:rPr>
              <a:t>unblocks every build-rate limit we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505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C2A3A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5059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C2A3A"/>
                </a:solidFill>
                <a:latin typeface="Calibri"/>
              </a:rPr>
              <a:t>A cheaper MinFlow formulation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45059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A8C"/>
                </a:solidFill>
                <a:latin typeface="Calibri"/>
              </a:rPr>
              <a:t>or confirmation that 450k rows is simply the cost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839</Words>
  <Application>Microsoft Macintosh PowerPoint</Application>
  <PresentationFormat>Widescreen</PresentationFormat>
  <Paragraphs>76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Hanwoong Kim</cp:lastModifiedBy>
  <cp:revision>8</cp:revision>
  <dcterms:created xsi:type="dcterms:W3CDTF">2013-01-27T09:14:16Z</dcterms:created>
  <dcterms:modified xsi:type="dcterms:W3CDTF">2026-10-19T19:37:49Z</dcterms:modified>
  <cp:category/>
</cp:coreProperties>
</file>